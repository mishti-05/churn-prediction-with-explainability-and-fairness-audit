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f4d01b7f55f49bd" /><Relationship Type="http://schemas.openxmlformats.org/officeDocument/2006/relationships/extended-properties" Target="/docProps/app.xml" Id="Rc0bfc56c9aec41de" /><Relationship Type="http://schemas.openxmlformats.org/officeDocument/2006/relationships/officeDocument" Target="/ppt/presentation.xml" Id="R5013f2e04f9f467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8ab798d04a84ea9"/>
  </p:sldMasterIdLst>
  <p:notesMasterIdLst>
    <p:notesMasterId xmlns:r="http://schemas.openxmlformats.org/officeDocument/2006/relationships" r:id="Rd2541215ccda4d84"/>
  </p:notesMasterIdLst>
  <p:sldIdLst>
    <p:sldId xmlns:r="http://schemas.openxmlformats.org/officeDocument/2006/relationships" id="256" r:id="Ree99933a9ff146bd"/>
    <p:sldId xmlns:r="http://schemas.openxmlformats.org/officeDocument/2006/relationships" id="257" r:id="Rc068592dcb4a4e80"/>
    <p:sldId xmlns:r="http://schemas.openxmlformats.org/officeDocument/2006/relationships" id="258" r:id="Rf51e52ab3d244176"/>
    <p:sldId xmlns:r="http://schemas.openxmlformats.org/officeDocument/2006/relationships" id="259" r:id="Rd38c2152968a46d5"/>
    <p:sldId xmlns:r="http://schemas.openxmlformats.org/officeDocument/2006/relationships" id="260" r:id="R6693be7aebe74e70"/>
    <p:sldId xmlns:r="http://schemas.openxmlformats.org/officeDocument/2006/relationships" id="261" r:id="R8975e08898fc447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c5ef4c86aca47be" /><Relationship Type="http://schemas.openxmlformats.org/officeDocument/2006/relationships/slideMaster" Target="/ppt/slideMasters/slideMaster1.xml" Id="R68ab798d04a84ea9" /><Relationship Type="http://schemas.openxmlformats.org/officeDocument/2006/relationships/notesMaster" Target="/ppt/notesMasters/notesMaster1.xml" Id="Rd2541215ccda4d84" /><Relationship Type="http://schemas.openxmlformats.org/officeDocument/2006/relationships/presProps" Target="/ppt/presProps.xml" Id="R709a06f706f94221" /><Relationship Type="http://schemas.openxmlformats.org/officeDocument/2006/relationships/tableStyles" Target="/ppt/tableStyles.xml" Id="R147c5e9ee2304c36" /><Relationship Type="http://schemas.openxmlformats.org/officeDocument/2006/relationships/slide" Target="/ppt/slides/slide1.xml" Id="Ree99933a9ff146bd" /><Relationship Type="http://schemas.openxmlformats.org/officeDocument/2006/relationships/slide" Target="/ppt/slides/slide2.xml" Id="Rc068592dcb4a4e80" /><Relationship Type="http://schemas.openxmlformats.org/officeDocument/2006/relationships/slide" Target="/ppt/slides/slide3.xml" Id="Rf51e52ab3d244176" /><Relationship Type="http://schemas.openxmlformats.org/officeDocument/2006/relationships/slide" Target="/ppt/slides/slide4.xml" Id="Rd38c2152968a46d5" /><Relationship Type="http://schemas.openxmlformats.org/officeDocument/2006/relationships/slide" Target="/ppt/slides/slide5.xml" Id="R6693be7aebe74e70" /><Relationship Type="http://schemas.openxmlformats.org/officeDocument/2006/relationships/slide" Target="/ppt/slides/slide6.xml" Id="R8975e08898fc447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e9441629ce54df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49bfef72f5a4eae" /><Relationship Type="http://schemas.openxmlformats.org/officeDocument/2006/relationships/notesMaster" Target="/ppt/notesMasters/notesMaster1.xml" Id="Rf20b4f9877eb404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82d504e0deb4a2f" /><Relationship Type="http://schemas.openxmlformats.org/officeDocument/2006/relationships/notesMaster" Target="/ppt/notesMasters/notesMaster1.xml" Id="Rf4e02c7e9e13411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342ba06d1e845d0" /><Relationship Type="http://schemas.openxmlformats.org/officeDocument/2006/relationships/notesMaster" Target="/ppt/notesMasters/notesMaster1.xml" Id="R0171821f0cf444e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dc89f3b58aa4e05" /><Relationship Type="http://schemas.openxmlformats.org/officeDocument/2006/relationships/notesMaster" Target="/ppt/notesMasters/notesMaster1.xml" Id="R6657e1be7b0646c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962c117b4e241cb" /><Relationship Type="http://schemas.openxmlformats.org/officeDocument/2006/relationships/notesMaster" Target="/ppt/notesMasters/notesMaster1.xml" Id="Rfde7207dea674d9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42dc485baf64a67" /><Relationship Type="http://schemas.openxmlformats.org/officeDocument/2006/relationships/notesMaster" Target="/ppt/notesMasters/notesMaster1.xml" Id="R78e90fe10d96435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Dataset: WSDM - KKBox Churn Prediction Challenge. Competition page: https://www.kaggle.com/competitions/kkbox-churn-prediction-challenge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February and March cohort construction follows the KKBox challenge labels and point-in-time feature snapshots. Source: https://www.kaggle.com/competitions/kkbox-churn-prediction-challenge . The sample is 150,000 per cohort; this is not the full competition population.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Metrics from artifacts/kkbox-temporal/model_metrics.json. Accuracy is dominated by the 91% non-churn class, so ROC AUC and average precision provide useful complementary views. Calibration slightly worsened Brier score (0.05625 to 0.05781) and log loss (0.2010 to 0.2121) against raw XGBoost.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Image and numeric importance from artifacts/kkbox-temporal/shap_summary.png and shap_feature_importance.csv. These are mean absolute SHAP values for XGBoost raw margin (log-odds). They show which features move the fitted model output, not what causes churn. Feature effects can be correlated and are not interventions.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Fairness metrics from artifacts/kkbox-temporal/fairness_metrics.json. Difference is max minus min across gender groups. Mitigation was fitted on a separate policy-validation split and evaluated on the March holdout. Equal selection rates are only one fairness criterion; the substantial TPR and accuracy gaps remain. “Missing” is a large group, not a negligible subgroup. This is not a fairness certification or legal assessment.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Suggested next work: incorporate the large listening logs if legally/operationally feasible; improve missingness analysis and data provenance; run multiple later cohort holdouts and confidence intervals; choose criteria with stakeholders and explicit error costs; evaluate calibration by group and operational utility; document model governance. The current challenge data and sampled snapshots are not evidence of performance on an organization’s customers.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782c8923b09469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12039628b9c4f9a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7c9e2934688487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a67de41b4a14e9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57b4daca03f4cf8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94af64f37204b7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C362651-1A6B-47C3-9C04-82ACE60E952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D843D196-3D22-4360-AC21-77AC55D87A9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E72FA8FE-754D-47A5-BFCA-2F4229C1664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DB943FE-61CD-4778-9939-99E576D0C43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F0099753-AE73-4EAB-96B7-1D2FDFCA6A1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2D225DD9-262A-42A6-9BB3-8524B026834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1F116781-D99C-4845-AA8B-D1C7E9C00B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3B6E2838-419E-47B9-A8E1-CAF9A0FAC39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541B588-D52F-4DA2-8FC1-6A6C308B670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3DB94CF8-1A71-4ADF-BF0B-D3F5CAC9DF1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a82149ce8ec48e5" /><Relationship Type="http://schemas.openxmlformats.org/officeDocument/2006/relationships/slideLayout" Target="/ppt/slideLayouts/slideLayout1.xml" Id="R1c2ca63f081849b2" /><Relationship Type="http://schemas.openxmlformats.org/officeDocument/2006/relationships/slideLayout" Target="/ppt/slideLayouts/slideLayout2.xml" Id="R50537d3d260849e8" /><Relationship Type="http://schemas.openxmlformats.org/officeDocument/2006/relationships/slideLayout" Target="/ppt/slideLayouts/slideLayout3.xml" Id="Rd94fb6deb06f4fb6" /><Relationship Type="http://schemas.openxmlformats.org/officeDocument/2006/relationships/slideLayout" Target="/ppt/slideLayouts/slideLayout4.xml" Id="Re05ad2ecbaa84000" /><Relationship Type="http://schemas.openxmlformats.org/officeDocument/2006/relationships/slideLayout" Target="/ppt/slideLayouts/slideLayout5.xml" Id="R15d5e26f1e4f47ca" /><Relationship Type="http://schemas.openxmlformats.org/officeDocument/2006/relationships/slideLayout" Target="/ppt/slideLayouts/slideLayout6.xml" Id="R7337f2ef4033424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c2ca63f081849b2"/>
    <p:sldLayoutId xmlns:r="http://schemas.openxmlformats.org/officeDocument/2006/relationships" id="2147483650" r:id="R50537d3d260849e8"/>
    <p:sldLayoutId xmlns:r="http://schemas.openxmlformats.org/officeDocument/2006/relationships" id="2147483651" r:id="Rd94fb6deb06f4fb6"/>
    <p:sldLayoutId xmlns:r="http://schemas.openxmlformats.org/officeDocument/2006/relationships" id="2147483652" r:id="Re05ad2ecbaa84000"/>
    <p:sldLayoutId xmlns:r="http://schemas.openxmlformats.org/officeDocument/2006/relationships" id="2147483653" r:id="R15d5e26f1e4f47ca"/>
    <p:sldLayoutId xmlns:r="http://schemas.openxmlformats.org/officeDocument/2006/relationships" id="2147483654" r:id="R7337f2ef4033424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4b6472496e1468d" /><Relationship Type="http://schemas.openxmlformats.org/officeDocument/2006/relationships/notesSlide" Target="/ppt/notesSlides/notesSlide1.xml" Id="Rd47e030d44674b7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f8de8da4f7c4658" /><Relationship Type="http://schemas.openxmlformats.org/officeDocument/2006/relationships/notesSlide" Target="/ppt/notesSlides/notesSlide2.xml" Id="R1a48be3ac011479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0abb97196f54df3" /><Relationship Type="http://schemas.openxmlformats.org/officeDocument/2006/relationships/notesSlide" Target="/ppt/notesSlides/notesSlide3.xml" Id="Rd18d65b1d42c488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21af0e931094a56" /><Relationship Type="http://schemas.openxmlformats.org/officeDocument/2006/relationships/image" Target="/ppt/media/image.png" Id="R68f66f43625b457c" /><Relationship Type="http://schemas.openxmlformats.org/officeDocument/2006/relationships/notesSlide" Target="/ppt/notesSlides/notesSlide4.xml" Id="R001e66999f6e427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da59e69c0d4470c" /><Relationship Type="http://schemas.openxmlformats.org/officeDocument/2006/relationships/notesSlide" Target="/ppt/notesSlides/notesSlide5.xml" Id="R1d2821900c1644d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7749efd418b40e2" /><Relationship Type="http://schemas.openxmlformats.org/officeDocument/2006/relationships/notesSlide" Target="/ppt/notesSlides/notesSlide6.xml" Id="R6162c79107d6491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C2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card">
            <a:extLst xmlns:a="http://schemas.openxmlformats.org/drawingml/2006/main">
              <a:ext uri="{FF2B5EF4-FFF2-40B4-BE49-F238E27FC236}">
                <a16:creationId xmlns:a16="http://schemas.microsoft.com/office/drawing/2014/main" id="{285EDF10-BE85-446C-8C15-3B7CA8F7C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0"/>
            <a:ext cx="4381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B4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ard">
            <a:extLst xmlns:a="http://schemas.openxmlformats.org/drawingml/2006/main">
              <a:ext uri="{FF2B5EF4-FFF2-40B4-BE49-F238E27FC236}">
                <a16:creationId xmlns:a16="http://schemas.microsoft.com/office/drawing/2014/main" id="{FDB408C5-2741-475C-91FD-8A0773FCB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066800"/>
            <a:ext cx="2857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425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card">
            <a:extLst xmlns:a="http://schemas.openxmlformats.org/drawingml/2006/main">
              <a:ext uri="{FF2B5EF4-FFF2-40B4-BE49-F238E27FC236}">
                <a16:creationId xmlns:a16="http://schemas.microsoft.com/office/drawing/2014/main" id="{FE9420CA-0F22-4430-B0D7-4DA3DCDAC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790700"/>
            <a:ext cx="2857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425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card">
            <a:extLst xmlns:a="http://schemas.openxmlformats.org/drawingml/2006/main">
              <a:ext uri="{FF2B5EF4-FFF2-40B4-BE49-F238E27FC236}">
                <a16:creationId xmlns:a16="http://schemas.microsoft.com/office/drawing/2014/main" id="{DC464E6A-2732-40FA-8E89-8D07AA121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514600"/>
            <a:ext cx="2857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425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card">
            <a:extLst xmlns:a="http://schemas.openxmlformats.org/drawingml/2006/main">
              <a:ext uri="{FF2B5EF4-FFF2-40B4-BE49-F238E27FC236}">
                <a16:creationId xmlns:a16="http://schemas.microsoft.com/office/drawing/2014/main" id="{4ED2AED8-72CB-4B38-8A38-E510AF70B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238500"/>
            <a:ext cx="2857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425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card">
            <a:extLst xmlns:a="http://schemas.openxmlformats.org/drawingml/2006/main">
              <a:ext uri="{FF2B5EF4-FFF2-40B4-BE49-F238E27FC236}">
                <a16:creationId xmlns:a16="http://schemas.microsoft.com/office/drawing/2014/main" id="{E4BCFC94-C72E-444D-9C1C-EF7C94B93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962400"/>
            <a:ext cx="2857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425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card">
            <a:extLst xmlns:a="http://schemas.openxmlformats.org/drawingml/2006/main">
              <a:ext uri="{FF2B5EF4-FFF2-40B4-BE49-F238E27FC236}">
                <a16:creationId xmlns:a16="http://schemas.microsoft.com/office/drawing/2014/main" id="{E4E0506E-499A-44F6-A92B-694BBD8F3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686300"/>
            <a:ext cx="2857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425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card">
            <a:extLst xmlns:a="http://schemas.openxmlformats.org/drawingml/2006/main">
              <a:ext uri="{FF2B5EF4-FFF2-40B4-BE49-F238E27FC236}">
                <a16:creationId xmlns:a16="http://schemas.microsoft.com/office/drawing/2014/main" id="{3CB8AA9D-C579-4725-B95F-AF1806A00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5410200"/>
            <a:ext cx="2857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425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card">
            <a:extLst xmlns:a="http://schemas.openxmlformats.org/drawingml/2006/main">
              <a:ext uri="{FF2B5EF4-FFF2-40B4-BE49-F238E27FC236}">
                <a16:creationId xmlns:a16="http://schemas.microsoft.com/office/drawing/2014/main" id="{B30A9231-0379-41C4-B5C9-FB6CBBE39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85725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425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card">
            <a:extLst xmlns:a="http://schemas.openxmlformats.org/drawingml/2006/main">
              <a:ext uri="{FF2B5EF4-FFF2-40B4-BE49-F238E27FC236}">
                <a16:creationId xmlns:a16="http://schemas.microsoft.com/office/drawing/2014/main" id="{C5E80941-50C8-488E-9182-C43342017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85725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425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card">
            <a:extLst xmlns:a="http://schemas.openxmlformats.org/drawingml/2006/main">
              <a:ext uri="{FF2B5EF4-FFF2-40B4-BE49-F238E27FC236}">
                <a16:creationId xmlns:a16="http://schemas.microsoft.com/office/drawing/2014/main" id="{FD92BECD-5B93-44FC-A585-784EC91BD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85725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425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card">
            <a:extLst xmlns:a="http://schemas.openxmlformats.org/drawingml/2006/main">
              <a:ext uri="{FF2B5EF4-FFF2-40B4-BE49-F238E27FC236}">
                <a16:creationId xmlns:a16="http://schemas.microsoft.com/office/drawing/2014/main" id="{693BC261-8A51-474D-B90D-1BB39379E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85725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425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card">
            <a:extLst xmlns:a="http://schemas.openxmlformats.org/drawingml/2006/main">
              <a:ext uri="{FF2B5EF4-FFF2-40B4-BE49-F238E27FC236}">
                <a16:creationId xmlns:a16="http://schemas.microsoft.com/office/drawing/2014/main" id="{442AE01B-2E74-411D-BBFF-2C51A6205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85725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425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dot">
            <a:extLst xmlns:a="http://schemas.openxmlformats.org/drawingml/2006/main">
              <a:ext uri="{FF2B5EF4-FFF2-40B4-BE49-F238E27FC236}">
                <a16:creationId xmlns:a16="http://schemas.microsoft.com/office/drawing/2014/main" id="{C2A88507-5815-4BC0-8C2E-41FFF7259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1148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8B7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dot">
            <a:extLst xmlns:a="http://schemas.openxmlformats.org/drawingml/2006/main">
              <a:ext uri="{FF2B5EF4-FFF2-40B4-BE49-F238E27FC236}">
                <a16:creationId xmlns:a16="http://schemas.microsoft.com/office/drawing/2014/main" id="{E2DC9B31-89BE-4A32-AD59-0279B135B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32766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8B7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dot">
            <a:extLst xmlns:a="http://schemas.openxmlformats.org/drawingml/2006/main">
              <a:ext uri="{FF2B5EF4-FFF2-40B4-BE49-F238E27FC236}">
                <a16:creationId xmlns:a16="http://schemas.microsoft.com/office/drawing/2014/main" id="{94C10489-2F51-4B02-BA2F-99FB5F8A0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050" y="35623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8B7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dot">
            <a:extLst xmlns:a="http://schemas.openxmlformats.org/drawingml/2006/main">
              <a:ext uri="{FF2B5EF4-FFF2-40B4-BE49-F238E27FC236}">
                <a16:creationId xmlns:a16="http://schemas.microsoft.com/office/drawing/2014/main" id="{03B23010-085C-44FD-A0D2-27AB173EE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5146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8B7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dot">
            <a:extLst xmlns:a="http://schemas.openxmlformats.org/drawingml/2006/main">
              <a:ext uri="{FF2B5EF4-FFF2-40B4-BE49-F238E27FC236}">
                <a16:creationId xmlns:a16="http://schemas.microsoft.com/office/drawing/2014/main" id="{7E570ADF-B0D1-48DF-A909-0D9D4AF05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9525" y="20097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778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card">
            <a:extLst xmlns:a="http://schemas.openxmlformats.org/drawingml/2006/main">
              <a:ext uri="{FF2B5EF4-FFF2-40B4-BE49-F238E27FC236}">
                <a16:creationId xmlns:a16="http://schemas.microsoft.com/office/drawing/2014/main" id="{CF63D086-166E-4A4D-BB36-B475FB548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85800"/>
            <a:ext cx="219075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183D5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">
            <a:extLst xmlns:a="http://schemas.openxmlformats.org/drawingml/2006/main">
              <a:ext uri="{FF2B5EF4-FFF2-40B4-BE49-F238E27FC236}">
                <a16:creationId xmlns:a16="http://schemas.microsoft.com/office/drawing/2014/main" id="{4A0F1FA5-9048-41E8-8661-2AAF58671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95325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ctr">
              <a:defRPr sz="900" b="1">
                <a:solidFill>
                  <a:srgbClr val="A7E2D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900" b="1">
                <a:solidFill>
                  <a:srgbClr val="A7E2D9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A7E2D9"/>
                </a:solidFill>
                <a:latin typeface="Arial"/>
                <a:ea typeface="Arial"/>
                <a:cs typeface="Arial"/>
              </a:rPr>
              <a:t>APPLIED ML • MODEL RISK</a:t>
            </a:r>
          </a:p>
        </p:txBody>
      </p:sp>
      <p:sp>
        <p:nvSpPr>
          <p:cNvPr id="21" name="cover-title">
            <a:extLst xmlns:a="http://schemas.openxmlformats.org/drawingml/2006/main">
              <a:ext uri="{FF2B5EF4-FFF2-40B4-BE49-F238E27FC236}">
                <a16:creationId xmlns:a16="http://schemas.microsoft.com/office/drawing/2014/main" id="{47D01006-CB45-4A90-9BCD-7447FF172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85900"/>
            <a:ext cx="6762750" cy="2238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3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Churn prediction,</a:t>
            </a:r>
          </a:p>
          <a:p xmlns:a="http://schemas.openxmlformats.org/drawingml/2006/main">
            <a:pPr algn="l">
              <a:defRPr sz="3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with the trade-offs</a:t>
            </a:r>
          </a:p>
          <a:p xmlns:a="http://schemas.openxmlformats.org/drawingml/2006/main">
            <a:pPr algn="l">
              <a:defRPr sz="3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in the open.</a:t>
            </a:r>
          </a:p>
        </p:txBody>
      </p:sp>
      <p:sp>
        <p:nvSpPr>
          <p:cNvPr id="22" name="text">
            <a:extLst xmlns:a="http://schemas.openxmlformats.org/drawingml/2006/main">
              <a:ext uri="{FF2B5EF4-FFF2-40B4-BE49-F238E27FC236}">
                <a16:creationId xmlns:a16="http://schemas.microsoft.com/office/drawing/2014/main" id="{46ED493D-ABA4-43CF-ADC4-F4D9D3F7F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38600"/>
            <a:ext cx="619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8AD8C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8AD8C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8AD8CD"/>
                </a:solidFill>
                <a:latin typeface="Arial"/>
                <a:ea typeface="Arial"/>
                <a:cs typeface="Arial"/>
              </a:rPr>
              <a:t>XGBoost  /  SHAP  /  Fairlearn</a:t>
            </a:r>
          </a:p>
        </p:txBody>
      </p:sp>
      <p:sp>
        <p:nvSpPr>
          <p:cNvPr id="23" name="text">
            <a:extLst xmlns:a="http://schemas.openxmlformats.org/drawingml/2006/main">
              <a:ext uri="{FF2B5EF4-FFF2-40B4-BE49-F238E27FC236}">
                <a16:creationId xmlns:a16="http://schemas.microsoft.com/office/drawing/2014/main" id="{AECA43E7-4336-4C52-B869-A74221624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0"/>
            <a:ext cx="6381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D0DCE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D0DCE7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D0DCE7"/>
                </a:solidFill>
                <a:latin typeface="Arial"/>
                <a:ea typeface="Arial"/>
                <a:cs typeface="Arial"/>
              </a:rPr>
              <a:t>A time-aware evaluation on KKBox competition data</a:t>
            </a:r>
          </a:p>
        </p:txBody>
      </p:sp>
      <p:sp>
        <p:nvSpPr>
          <p:cNvPr id="24" name="card">
            <a:extLst xmlns:a="http://schemas.openxmlformats.org/drawingml/2006/main">
              <a:ext uri="{FF2B5EF4-FFF2-40B4-BE49-F238E27FC236}">
                <a16:creationId xmlns:a16="http://schemas.microsoft.com/office/drawing/2014/main" id="{386155FC-EBD5-4E9F-86D6-C7821FEB1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34000"/>
            <a:ext cx="47625" cy="571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78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text">
            <a:extLst xmlns:a="http://schemas.openxmlformats.org/drawingml/2006/main">
              <a:ext uri="{FF2B5EF4-FFF2-40B4-BE49-F238E27FC236}">
                <a16:creationId xmlns:a16="http://schemas.microsoft.com/office/drawing/2014/main" id="{3A37271A-9E18-4DA0-8BE3-D723E3A19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5314950"/>
            <a:ext cx="628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1125" b="1">
                <a:solidFill>
                  <a:srgbClr val="D0DCE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D0DCE7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D0DCE7"/>
                </a:solidFill>
                <a:latin typeface="Arial"/>
                <a:ea typeface="Arial"/>
                <a:cs typeface="Arial"/>
              </a:rPr>
              <a:t>February → March 2017  •  300,000 sampled snapshots</a:t>
            </a:r>
          </a:p>
        </p:txBody>
      </p:sp>
      <p:sp>
        <p:nvSpPr>
          <p:cNvPr id="26" name="text">
            <a:extLst xmlns:a="http://schemas.openxmlformats.org/drawingml/2006/main">
              <a:ext uri="{FF2B5EF4-FFF2-40B4-BE49-F238E27FC236}">
                <a16:creationId xmlns:a16="http://schemas.microsoft.com/office/drawing/2014/main" id="{58E1641A-EA17-44AA-8938-54AEC3ABB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5619750"/>
            <a:ext cx="628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975" b="0">
                <a:solidFill>
                  <a:srgbClr val="91A5B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0">
                <a:solidFill>
                  <a:srgbClr val="91A5B7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91A5B7"/>
                </a:solidFill>
                <a:latin typeface="Arial"/>
                <a:ea typeface="Arial"/>
                <a:cs typeface="Arial"/>
              </a:rPr>
              <a:t>A research prototype, not a deployment recommendation</a:t>
            </a:r>
          </a:p>
        </p:txBody>
      </p:sp>
      <p:sp>
        <p:nvSpPr>
          <p:cNvPr id="27" name="text">
            <a:extLst xmlns:a="http://schemas.openxmlformats.org/drawingml/2006/main">
              <a:ext uri="{FF2B5EF4-FFF2-40B4-BE49-F238E27FC236}">
                <a16:creationId xmlns:a16="http://schemas.microsoft.com/office/drawing/2014/main" id="{CDB2EEC3-6182-4861-8C33-9B7C92CDF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r">
              <a:defRPr sz="900" b="1">
                <a:solidFill>
                  <a:srgbClr val="91A5B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1">
                <a:solidFill>
                  <a:srgbClr val="91A5B7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91A5B7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83160715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slide-2-kicker">
            <a:extLst xmlns:a="http://schemas.openxmlformats.org/drawingml/2006/main">
              <a:ext uri="{FF2B5EF4-FFF2-40B4-BE49-F238E27FC236}">
                <a16:creationId xmlns:a16="http://schemas.microsoft.com/office/drawing/2014/main" id="{E069FCF1-F4B2-4209-AB93-228D78636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007F8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007F86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07F86"/>
                </a:solidFill>
                <a:latin typeface="Arial"/>
                <a:ea typeface="Arial"/>
                <a:cs typeface="Arial"/>
              </a:rPr>
              <a:t>01 / STUDY DESIGN</a:t>
            </a:r>
          </a:p>
        </p:txBody>
      </p:sp>
      <p:sp>
        <p:nvSpPr>
          <p:cNvPr id="2" name="slide-2-title">
            <a:extLst xmlns:a="http://schemas.openxmlformats.org/drawingml/2006/main">
              <a:ext uri="{FF2B5EF4-FFF2-40B4-BE49-F238E27FC236}">
                <a16:creationId xmlns:a16="http://schemas.microsoft.com/office/drawing/2014/main" id="{7CC78CB3-E1EA-40EB-8C55-7ABB81431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81087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0243A"/>
                </a:solidFill>
                <a:latin typeface="Arial"/>
                <a:ea typeface="Arial"/>
                <a:cs typeface="Arial"/>
              </a:rPr>
              <a:t>A temporal test makes the question harder</a:t>
            </a:r>
          </a:p>
        </p:txBody>
      </p:sp>
      <p:sp>
        <p:nvSpPr>
          <p:cNvPr id="3" name="slide-2-rule">
            <a:extLst xmlns:a="http://schemas.openxmlformats.org/drawingml/2006/main">
              <a:ext uri="{FF2B5EF4-FFF2-40B4-BE49-F238E27FC236}">
                <a16:creationId xmlns:a16="http://schemas.microsoft.com/office/drawing/2014/main" id="{886907B5-9318-4159-892C-416C2C4AE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1912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BBDD8D2A-C8DC-4FAD-BDDB-5385063CB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15075"/>
            <a:ext cx="647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825" b="1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825" b="1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526579"/>
                </a:solidFill>
                <a:latin typeface="Arial"/>
                <a:ea typeface="Arial"/>
                <a:cs typeface="Arial"/>
              </a:rPr>
              <a:t>CHURN • EXPLAINABILITY • FAIRNESS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CAD2FC15-0658-4DAE-A6F2-613500122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r">
              <a:defRPr sz="900" b="1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1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26579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B843941A-A652-44D9-AD48-0E1F315EB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52550"/>
            <a:ext cx="971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26579"/>
                </a:solidFill>
                <a:latin typeface="Arial"/>
                <a:ea typeface="Arial"/>
                <a:cs typeface="Arial"/>
              </a:rPr>
              <a:t>Train on an earlier customer snapshot. Evaluate on a later one.</a:t>
            </a:r>
          </a:p>
        </p:txBody>
      </p:sp>
      <p:sp>
        <p:nvSpPr>
          <p:cNvPr id="7" name="card">
            <a:extLst xmlns:a="http://schemas.openxmlformats.org/drawingml/2006/main">
              <a:ext uri="{FF2B5EF4-FFF2-40B4-BE49-F238E27FC236}">
                <a16:creationId xmlns:a16="http://schemas.microsoft.com/office/drawing/2014/main" id="{51E54A4D-5095-4F3E-8D7B-38C00E466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24150"/>
            <a:ext cx="4333875" cy="1695450"/>
          </a:xfrm>
          <a:prstGeom xmlns:a="http://schemas.openxmlformats.org/drawingml/2006/main" prst="roundRect">
            <a:avLst>
              <a:gd name="adj" fmla="val 449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A"/>
            </a:solidFill>
            <a:prstDash val="solid"/>
          </a:ln>
        </p:spPr>
      </p:sp>
      <p:sp>
        <p:nvSpPr>
          <p:cNvPr id="8" name="card">
            <a:extLst xmlns:a="http://schemas.openxmlformats.org/drawingml/2006/main">
              <a:ext uri="{FF2B5EF4-FFF2-40B4-BE49-F238E27FC236}">
                <a16:creationId xmlns:a16="http://schemas.microsoft.com/office/drawing/2014/main" id="{FA308FAC-B30C-4158-83AC-37653EBC1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724150"/>
            <a:ext cx="4333875" cy="1695450"/>
          </a:xfrm>
          <a:prstGeom xmlns:a="http://schemas.openxmlformats.org/drawingml/2006/main" prst="roundRect">
            <a:avLst>
              <a:gd name="adj" fmla="val 449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A"/>
            </a:solidFill>
            <a:prstDash val="solid"/>
          </a:ln>
        </p:spPr>
      </p:sp>
      <p:sp>
        <p:nvSpPr>
          <p:cNvPr id="9" name="card">
            <a:extLst xmlns:a="http://schemas.openxmlformats.org/drawingml/2006/main">
              <a:ext uri="{FF2B5EF4-FFF2-40B4-BE49-F238E27FC236}">
                <a16:creationId xmlns:a16="http://schemas.microsoft.com/office/drawing/2014/main" id="{84C7970C-0439-4FD4-B11B-10C728AF2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14650"/>
            <a:ext cx="201930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E6F3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4E03F75C-6CCB-4807-9720-12DE23073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924175"/>
            <a:ext cx="1828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ctr">
              <a:defRPr sz="900" b="1">
                <a:solidFill>
                  <a:srgbClr val="007F8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900" b="1">
                <a:solidFill>
                  <a:srgbClr val="007F86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007F86"/>
                </a:solidFill>
                <a:latin typeface="Arial"/>
                <a:ea typeface="Arial"/>
                <a:cs typeface="Arial"/>
              </a:rPr>
              <a:t>FIT + POLICY VALIDATION</a:t>
            </a:r>
          </a:p>
        </p:txBody>
      </p:sp>
      <p:sp>
        <p:nvSpPr>
          <p:cNvPr id="11" name="card">
            <a:extLst xmlns:a="http://schemas.openxmlformats.org/drawingml/2006/main">
              <a:ext uri="{FF2B5EF4-FFF2-40B4-BE49-F238E27FC236}">
                <a16:creationId xmlns:a16="http://schemas.microsoft.com/office/drawing/2014/main" id="{51805288-4ABC-460B-BA56-6D49B32E0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914650"/>
            <a:ext cx="171450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E8EE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CDC72A8B-33B9-4D7B-9F08-13E7BDE5F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924175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ctr">
              <a:defRPr sz="900" b="1">
                <a:solidFill>
                  <a:srgbClr val="2867B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900" b="1">
                <a:solidFill>
                  <a:srgbClr val="2867B2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2867B2"/>
                </a:solidFill>
                <a:latin typeface="Arial"/>
                <a:ea typeface="Arial"/>
                <a:cs typeface="Arial"/>
              </a:rPr>
              <a:t>OUT-OF-TIME TEST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47ED2AAE-61A4-4648-BAD6-12AB71539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362325"/>
            <a:ext cx="3810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1875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243A"/>
                </a:solidFill>
                <a:latin typeface="Arial"/>
                <a:ea typeface="Arial"/>
                <a:cs typeface="Arial"/>
              </a:rPr>
              <a:t>February cohort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8E465122-825D-438F-9619-D496E3CC9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781425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579"/>
                </a:solidFill>
                <a:latin typeface="Arial"/>
                <a:ea typeface="Arial"/>
                <a:cs typeface="Arial"/>
              </a:rPr>
              <a:t>150k sampled labels</a:t>
            </a:r>
          </a:p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BC921851-F6D2-400C-B0F1-593EDA51B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0576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105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26579"/>
                </a:solidFill>
                <a:latin typeface="Arial"/>
                <a:ea typeface="Arial"/>
                <a:cs typeface="Arial"/>
              </a:rPr>
              <a:t>112.5k fit  ·  37.5k validation</a:t>
            </a:r>
          </a:p>
        </p:txBody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F5BFC7A7-32A1-49E0-BC9D-63A3F621E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362325"/>
            <a:ext cx="3810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1875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243A"/>
                </a:solidFill>
                <a:latin typeface="Arial"/>
                <a:ea typeface="Arial"/>
                <a:cs typeface="Arial"/>
              </a:rPr>
              <a:t>March cohort</a:t>
            </a:r>
          </a:p>
        </p:txBody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93BB0421-9D2F-426A-8F84-EA92E6A67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781425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579"/>
                </a:solidFill>
                <a:latin typeface="Arial"/>
                <a:ea typeface="Arial"/>
                <a:cs typeface="Arial"/>
              </a:rPr>
              <a:t>150k sampled labels</a:t>
            </a:r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5AAA5A3C-E6F2-46F1-AC57-58F52D70B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0576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105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26579"/>
                </a:solidFill>
                <a:latin typeface="Arial"/>
                <a:ea typeface="Arial"/>
                <a:cs typeface="Arial"/>
              </a:rPr>
              <a:t>Latest feature cutoff: 28 Feb 2017</a:t>
            </a:r>
          </a:p>
        </p:txBody>
      </p:sp>
      <p:sp>
        <p:nvSpPr>
          <p:cNvPr id="19" name="card">
            <a:extLst xmlns:a="http://schemas.openxmlformats.org/drawingml/2006/main">
              <a:ext uri="{FF2B5EF4-FFF2-40B4-BE49-F238E27FC236}">
                <a16:creationId xmlns:a16="http://schemas.microsoft.com/office/drawing/2014/main" id="{A229516B-0C50-4E4D-B3C0-DCBBC957C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857750"/>
            <a:ext cx="971550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8E1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card">
            <a:extLst xmlns:a="http://schemas.openxmlformats.org/drawingml/2006/main">
              <a:ext uri="{FF2B5EF4-FFF2-40B4-BE49-F238E27FC236}">
                <a16:creationId xmlns:a16="http://schemas.microsoft.com/office/drawing/2014/main" id="{938F6A64-0F57-4110-A1BC-CA5CADF6F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4791075"/>
            <a:ext cx="537210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7F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dot">
            <a:extLst xmlns:a="http://schemas.openxmlformats.org/drawingml/2006/main">
              <a:ext uri="{FF2B5EF4-FFF2-40B4-BE49-F238E27FC236}">
                <a16:creationId xmlns:a16="http://schemas.microsoft.com/office/drawing/2014/main" id="{E45FCA12-6118-487A-A067-43FD268C3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79107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867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dot">
            <a:extLst xmlns:a="http://schemas.openxmlformats.org/drawingml/2006/main">
              <a:ext uri="{FF2B5EF4-FFF2-40B4-BE49-F238E27FC236}">
                <a16:creationId xmlns:a16="http://schemas.microsoft.com/office/drawing/2014/main" id="{456A332D-A585-4907-8020-4F8059C44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479107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F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dot">
            <a:extLst xmlns:a="http://schemas.openxmlformats.org/drawingml/2006/main">
              <a:ext uri="{FF2B5EF4-FFF2-40B4-BE49-F238E27FC236}">
                <a16:creationId xmlns:a16="http://schemas.microsoft.com/office/drawing/2014/main" id="{7065BDBE-BD3D-4401-820F-BF3111C40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479107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778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text">
            <a:extLst xmlns:a="http://schemas.openxmlformats.org/drawingml/2006/main">
              <a:ext uri="{FF2B5EF4-FFF2-40B4-BE49-F238E27FC236}">
                <a16:creationId xmlns:a16="http://schemas.microsoft.com/office/drawing/2014/main" id="{4A54BA6B-AC62-417F-BEE7-F33BD0443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010150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26579"/>
                </a:solidFill>
                <a:latin typeface="Arial"/>
                <a:ea typeface="Arial"/>
                <a:cs typeface="Arial"/>
              </a:rPr>
              <a:t>31 Jan</a:t>
            </a:r>
          </a:p>
        </p:txBody>
      </p:sp>
      <p:sp>
        <p:nvSpPr>
          <p:cNvPr id="25" name="text">
            <a:extLst xmlns:a="http://schemas.openxmlformats.org/drawingml/2006/main">
              <a:ext uri="{FF2B5EF4-FFF2-40B4-BE49-F238E27FC236}">
                <a16:creationId xmlns:a16="http://schemas.microsoft.com/office/drawing/2014/main" id="{D93D04CD-DB35-4CA0-BD07-27B6CD0EC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5010150"/>
            <a:ext cx="2714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ctr">
              <a:defRPr sz="975" b="1">
                <a:solidFill>
                  <a:srgbClr val="007F8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975" b="1">
                <a:solidFill>
                  <a:srgbClr val="007F86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07F86"/>
                </a:solidFill>
                <a:latin typeface="Arial"/>
                <a:ea typeface="Arial"/>
                <a:cs typeface="Arial"/>
              </a:rPr>
              <a:t>Train snapshot cutoff</a:t>
            </a:r>
          </a:p>
        </p:txBody>
      </p:sp>
      <p:sp>
        <p:nvSpPr>
          <p:cNvPr id="26" name="text">
            <a:extLst xmlns:a="http://schemas.openxmlformats.org/drawingml/2006/main">
              <a:ext uri="{FF2B5EF4-FFF2-40B4-BE49-F238E27FC236}">
                <a16:creationId xmlns:a16="http://schemas.microsoft.com/office/drawing/2014/main" id="{513EFB41-E749-4B73-BE56-14C19D09F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050" y="5010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r">
              <a:defRPr sz="975" b="1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1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26579"/>
                </a:solidFill>
                <a:latin typeface="Arial"/>
                <a:ea typeface="Arial"/>
                <a:cs typeface="Arial"/>
              </a:rPr>
              <a:t>28 Feb</a:t>
            </a:r>
          </a:p>
        </p:txBody>
      </p:sp>
      <p:sp>
        <p:nvSpPr>
          <p:cNvPr id="27" name="card">
            <a:extLst xmlns:a="http://schemas.openxmlformats.org/drawingml/2006/main">
              <a:ext uri="{FF2B5EF4-FFF2-40B4-BE49-F238E27FC236}">
                <a16:creationId xmlns:a16="http://schemas.microsoft.com/office/drawing/2014/main" id="{B638227E-2463-490B-9509-E40F0C56D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14975"/>
            <a:ext cx="108585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6F3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text">
            <a:extLst xmlns:a="http://schemas.openxmlformats.org/drawingml/2006/main">
              <a:ext uri="{FF2B5EF4-FFF2-40B4-BE49-F238E27FC236}">
                <a16:creationId xmlns:a16="http://schemas.microsoft.com/office/drawing/2014/main" id="{5A8979D8-A1D1-418E-B4AA-F8548E241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5572125"/>
            <a:ext cx="1049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105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0243A"/>
                </a:solidFill>
                <a:latin typeface="Arial"/>
                <a:ea typeface="Arial"/>
                <a:cs typeface="Arial"/>
              </a:rPr>
              <a:t>Inputs: transaction summaries + member attributes  |  Listening logs omitted  |  Raw member IDs excluded</a:t>
            </a:r>
          </a:p>
        </p:txBody>
      </p:sp>
    </p:spTree>
    <p:extLst>
      <p:ext uri="{BB962C8B-B14F-4D97-AF65-F5344CB8AC3E}">
        <p14:creationId xmlns:p14="http://schemas.microsoft.com/office/powerpoint/2010/main" val="117149423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slide-3-kicker">
            <a:extLst xmlns:a="http://schemas.openxmlformats.org/drawingml/2006/main">
              <a:ext uri="{FF2B5EF4-FFF2-40B4-BE49-F238E27FC236}">
                <a16:creationId xmlns:a16="http://schemas.microsoft.com/office/drawing/2014/main" id="{5F8F03F3-016D-43E4-80DB-1DD322E92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007F8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007F86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07F86"/>
                </a:solidFill>
                <a:latin typeface="Arial"/>
                <a:ea typeface="Arial"/>
                <a:cs typeface="Arial"/>
              </a:rPr>
              <a:t>02 / PERFORMANCE</a:t>
            </a:r>
          </a:p>
        </p:txBody>
      </p:sp>
      <p:sp>
        <p:nvSpPr>
          <p:cNvPr id="2" name="slide-3-title">
            <a:extLst xmlns:a="http://schemas.openxmlformats.org/drawingml/2006/main">
              <a:ext uri="{FF2B5EF4-FFF2-40B4-BE49-F238E27FC236}">
                <a16:creationId xmlns:a16="http://schemas.microsoft.com/office/drawing/2014/main" id="{D4B6E8D7-1409-414E-81A7-C5D698FAA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81087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0243A"/>
                </a:solidFill>
                <a:latin typeface="Arial"/>
                <a:ea typeface="Arial"/>
                <a:cs typeface="Arial"/>
              </a:rPr>
              <a:t>The model ranks risk well; the default threshold misses churners</a:t>
            </a:r>
          </a:p>
        </p:txBody>
      </p:sp>
      <p:sp>
        <p:nvSpPr>
          <p:cNvPr id="3" name="slide-3-rule">
            <a:extLst xmlns:a="http://schemas.openxmlformats.org/drawingml/2006/main">
              <a:ext uri="{FF2B5EF4-FFF2-40B4-BE49-F238E27FC236}">
                <a16:creationId xmlns:a16="http://schemas.microsoft.com/office/drawing/2014/main" id="{22C2E790-03E9-4553-85DF-9315FAA2C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1912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ACFF2C0B-0E3B-4D46-A59A-027C0CF31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15075"/>
            <a:ext cx="647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825" b="1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825" b="1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526579"/>
                </a:solidFill>
                <a:latin typeface="Arial"/>
                <a:ea typeface="Arial"/>
                <a:cs typeface="Arial"/>
              </a:rPr>
              <a:t>CHURN • EXPLAINABILITY • FAIRNESS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E8A5BAF9-6FFE-466F-9DDB-45618E62B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r">
              <a:defRPr sz="900" b="1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1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26579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A1213C5D-0B9A-4085-BC0A-8D534C311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525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579"/>
                </a:solidFill>
                <a:latin typeface="Arial"/>
                <a:ea typeface="Arial"/>
                <a:cs typeface="Arial"/>
              </a:rPr>
              <a:t>Out-of-time March holdout • 150,000 customers • churn prevalence 9.0%</a:t>
            </a:r>
          </a:p>
        </p:txBody>
      </p:sp>
      <p:sp>
        <p:nvSpPr>
          <p:cNvPr id="7" name="metric-card">
            <a:extLst xmlns:a="http://schemas.openxmlformats.org/drawingml/2006/main">
              <a:ext uri="{FF2B5EF4-FFF2-40B4-BE49-F238E27FC236}">
                <a16:creationId xmlns:a16="http://schemas.microsoft.com/office/drawing/2014/main" id="{E94F0AF7-7A5A-4584-9EF5-E736C5952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95475"/>
            <a:ext cx="31432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A"/>
            </a:solidFill>
            <a:prstDash val="solid"/>
          </a:ln>
        </p:spPr>
      </p:sp>
      <p:sp>
        <p:nvSpPr>
          <p:cNvPr id="8" name="card">
            <a:extLst xmlns:a="http://schemas.openxmlformats.org/drawingml/2006/main">
              <a:ext uri="{FF2B5EF4-FFF2-40B4-BE49-F238E27FC236}">
                <a16:creationId xmlns:a16="http://schemas.microsoft.com/office/drawing/2014/main" id="{0765AF08-3510-4E74-895B-393D542D8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95475"/>
            <a:ext cx="66675" cy="1352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867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3853A7F0-5204-4D44-8E10-3B5E1ACCE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095500"/>
            <a:ext cx="27241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2867B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2867B2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2867B2"/>
                </a:solidFill>
                <a:latin typeface="Arial"/>
                <a:ea typeface="Arial"/>
                <a:cs typeface="Arial"/>
              </a:rPr>
              <a:t>0.884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DE5CC663-03F8-427E-BE34-C13888704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81275"/>
            <a:ext cx="2724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0243A"/>
                </a:solidFill>
                <a:latin typeface="Arial"/>
                <a:ea typeface="Arial"/>
                <a:cs typeface="Arial"/>
              </a:rPr>
              <a:t>ROC AUC • raw XGBoost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7B03B44A-C972-40E2-BE70-72584C48F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905125"/>
            <a:ext cx="2724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26579"/>
                </a:solidFill>
                <a:latin typeface="Arial"/>
                <a:ea typeface="Arial"/>
                <a:cs typeface="Arial"/>
              </a:rPr>
              <a:t>Prior baseline: 0.500</a:t>
            </a:r>
          </a:p>
        </p:txBody>
      </p:sp>
      <p:sp>
        <p:nvSpPr>
          <p:cNvPr id="12" name="metric-card">
            <a:extLst xmlns:a="http://schemas.openxmlformats.org/drawingml/2006/main">
              <a:ext uri="{FF2B5EF4-FFF2-40B4-BE49-F238E27FC236}">
                <a16:creationId xmlns:a16="http://schemas.microsoft.com/office/drawing/2014/main" id="{692E2607-EBE9-4528-8208-FCCD233E6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895475"/>
            <a:ext cx="31432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A"/>
            </a:solidFill>
            <a:prstDash val="solid"/>
          </a:ln>
        </p:spPr>
      </p:sp>
      <p:sp>
        <p:nvSpPr>
          <p:cNvPr id="13" name="card">
            <a:extLst xmlns:a="http://schemas.openxmlformats.org/drawingml/2006/main">
              <a:ext uri="{FF2B5EF4-FFF2-40B4-BE49-F238E27FC236}">
                <a16:creationId xmlns:a16="http://schemas.microsoft.com/office/drawing/2014/main" id="{686DC8E5-E7EB-4892-BC36-0CA2B300B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895475"/>
            <a:ext cx="66675" cy="1352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7F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375EFE80-EDB8-4114-B3BD-550BE46A5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095500"/>
            <a:ext cx="27241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007F8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007F86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007F86"/>
                </a:solidFill>
                <a:latin typeface="Arial"/>
                <a:ea typeface="Arial"/>
                <a:cs typeface="Arial"/>
              </a:rPr>
              <a:t>0.570</a:t>
            </a:r>
          </a:p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9578614B-7263-4FC1-B702-8DE07BE4E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581275"/>
            <a:ext cx="2724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0243A"/>
                </a:solidFill>
                <a:latin typeface="Arial"/>
                <a:ea typeface="Arial"/>
                <a:cs typeface="Arial"/>
              </a:rPr>
              <a:t>Average precision</a:t>
            </a:r>
          </a:p>
        </p:txBody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B6331CB3-CFD0-44B9-97BA-6DAA325A3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905125"/>
            <a:ext cx="2724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26579"/>
                </a:solidFill>
                <a:latin typeface="Arial"/>
                <a:ea typeface="Arial"/>
                <a:cs typeface="Arial"/>
              </a:rPr>
              <a:t>Prior baseline: 0.090</a:t>
            </a:r>
          </a:p>
        </p:txBody>
      </p:sp>
      <p:sp>
        <p:nvSpPr>
          <p:cNvPr id="17" name="metric-card">
            <a:extLst xmlns:a="http://schemas.openxmlformats.org/drawingml/2006/main">
              <a:ext uri="{FF2B5EF4-FFF2-40B4-BE49-F238E27FC236}">
                <a16:creationId xmlns:a16="http://schemas.microsoft.com/office/drawing/2014/main" id="{81E61467-6E2E-4218-9986-48B281EE8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895475"/>
            <a:ext cx="31432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A"/>
            </a:solidFill>
            <a:prstDash val="solid"/>
          </a:ln>
        </p:spPr>
      </p:sp>
      <p:sp>
        <p:nvSpPr>
          <p:cNvPr id="18" name="card">
            <a:extLst xmlns:a="http://schemas.openxmlformats.org/drawingml/2006/main">
              <a:ext uri="{FF2B5EF4-FFF2-40B4-BE49-F238E27FC236}">
                <a16:creationId xmlns:a16="http://schemas.microsoft.com/office/drawing/2014/main" id="{E9FEF5C4-6D26-4219-B33A-E46A3A327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895475"/>
            <a:ext cx="66675" cy="1352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78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text">
            <a:extLst xmlns:a="http://schemas.openxmlformats.org/drawingml/2006/main">
              <a:ext uri="{FF2B5EF4-FFF2-40B4-BE49-F238E27FC236}">
                <a16:creationId xmlns:a16="http://schemas.microsoft.com/office/drawing/2014/main" id="{D16F3EE8-890B-4F64-96A1-83FDBAF0C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095500"/>
            <a:ext cx="27241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D7783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D77832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D77832"/>
                </a:solidFill>
                <a:latin typeface="Arial"/>
                <a:ea typeface="Arial"/>
                <a:cs typeface="Arial"/>
              </a:rPr>
              <a:t>0.927</a:t>
            </a:r>
          </a:p>
        </p:txBody>
      </p:sp>
      <p:sp>
        <p:nvSpPr>
          <p:cNvPr id="20" name="text">
            <a:extLst xmlns:a="http://schemas.openxmlformats.org/drawingml/2006/main">
              <a:ext uri="{FF2B5EF4-FFF2-40B4-BE49-F238E27FC236}">
                <a16:creationId xmlns:a16="http://schemas.microsoft.com/office/drawing/2014/main" id="{F64CCFC9-F5BA-4244-8329-21AC9AE90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581275"/>
            <a:ext cx="2724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0243A"/>
                </a:solidFill>
                <a:latin typeface="Arial"/>
                <a:ea typeface="Arial"/>
                <a:cs typeface="Arial"/>
              </a:rPr>
              <a:t>Accuracy • calibrated</a:t>
            </a:r>
          </a:p>
        </p:txBody>
      </p:sp>
      <p:sp>
        <p:nvSpPr>
          <p:cNvPr id="21" name="text">
            <a:extLst xmlns:a="http://schemas.openxmlformats.org/drawingml/2006/main">
              <a:ext uri="{FF2B5EF4-FFF2-40B4-BE49-F238E27FC236}">
                <a16:creationId xmlns:a16="http://schemas.microsoft.com/office/drawing/2014/main" id="{D23170D0-7768-4736-8C5A-42F333C87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905125"/>
            <a:ext cx="2724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26579"/>
                </a:solidFill>
                <a:latin typeface="Arial"/>
                <a:ea typeface="Arial"/>
                <a:cs typeface="Arial"/>
              </a:rPr>
              <a:t>Calibrated AUC: 0.883</a:t>
            </a:r>
          </a:p>
        </p:txBody>
      </p:sp>
      <p:sp>
        <p:nvSpPr>
          <p:cNvPr id="22" name="card">
            <a:extLst xmlns:a="http://schemas.openxmlformats.org/drawingml/2006/main">
              <a:ext uri="{FF2B5EF4-FFF2-40B4-BE49-F238E27FC236}">
                <a16:creationId xmlns:a16="http://schemas.microsoft.com/office/drawing/2014/main" id="{0473B7E6-820B-4694-91FB-2ED29ED55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90925"/>
            <a:ext cx="6819900" cy="2124075"/>
          </a:xfrm>
          <a:prstGeom xmlns:a="http://schemas.openxmlformats.org/drawingml/2006/main" prst="roundRect">
            <a:avLst>
              <a:gd name="adj" fmla="val 35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A"/>
            </a:solidFill>
            <a:prstDash val="solid"/>
          </a:ln>
        </p:spPr>
      </p:sp>
      <p:sp>
        <p:nvSpPr>
          <p:cNvPr id="23" name="text">
            <a:extLst xmlns:a="http://schemas.openxmlformats.org/drawingml/2006/main">
              <a:ext uri="{FF2B5EF4-FFF2-40B4-BE49-F238E27FC236}">
                <a16:creationId xmlns:a16="http://schemas.microsoft.com/office/drawing/2014/main" id="{DD758CF9-DFB6-4938-B4A8-3D0B432A1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762375"/>
            <a:ext cx="619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243A"/>
                </a:solidFill>
                <a:latin typeface="Arial"/>
                <a:ea typeface="Arial"/>
                <a:cs typeface="Arial"/>
              </a:rPr>
              <a:t>The probability-quality check</a:t>
            </a:r>
          </a:p>
        </p:txBody>
      </p:sp>
      <p:sp>
        <p:nvSpPr>
          <p:cNvPr id="24" name="text">
            <a:extLst xmlns:a="http://schemas.openxmlformats.org/drawingml/2006/main">
              <a:ext uri="{FF2B5EF4-FFF2-40B4-BE49-F238E27FC236}">
                <a16:creationId xmlns:a16="http://schemas.microsoft.com/office/drawing/2014/main" id="{42242165-7EE1-4797-BF6D-6C1524033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210050"/>
            <a:ext cx="2286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1050" b="1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26579"/>
                </a:solidFill>
                <a:latin typeface="Arial"/>
                <a:ea typeface="Arial"/>
                <a:cs typeface="Arial"/>
              </a:rPr>
              <a:t>Brier score  ↓ better</a:t>
            </a:r>
          </a:p>
        </p:txBody>
      </p:sp>
      <p:sp>
        <p:nvSpPr>
          <p:cNvPr id="25" name="text">
            <a:extLst xmlns:a="http://schemas.openxmlformats.org/drawingml/2006/main">
              <a:ext uri="{FF2B5EF4-FFF2-40B4-BE49-F238E27FC236}">
                <a16:creationId xmlns:a16="http://schemas.microsoft.com/office/drawing/2014/main" id="{81D6D235-02BA-4304-80F6-883C18E83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429125"/>
            <a:ext cx="423862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26579"/>
                </a:solidFill>
                <a:latin typeface="Arial"/>
                <a:ea typeface="Arial"/>
                <a:cs typeface="Arial"/>
              </a:rPr>
              <a:t>Raw XGBoost</a:t>
            </a:r>
          </a:p>
        </p:txBody>
      </p:sp>
      <p:sp>
        <p:nvSpPr>
          <p:cNvPr id="26" name="card">
            <a:extLst xmlns:a="http://schemas.openxmlformats.org/drawingml/2006/main">
              <a:ext uri="{FF2B5EF4-FFF2-40B4-BE49-F238E27FC236}">
                <a16:creationId xmlns:a16="http://schemas.microsoft.com/office/drawing/2014/main" id="{B4E235FF-2FA0-42B2-83B9-1291F4735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676775"/>
            <a:ext cx="4238625" cy="171450"/>
          </a:xfrm>
          <a:prstGeom xmlns:a="http://schemas.openxmlformats.org/drawingml/2006/main" prst="roundRect">
            <a:avLst>
              <a:gd name="adj" fmla="val 44444"/>
            </a:avLst>
          </a:prstGeom>
          <a:solidFill xmlns:a="http://schemas.openxmlformats.org/drawingml/2006/main">
            <a:srgbClr val="E7ED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card">
            <a:extLst xmlns:a="http://schemas.openxmlformats.org/drawingml/2006/main">
              <a:ext uri="{FF2B5EF4-FFF2-40B4-BE49-F238E27FC236}">
                <a16:creationId xmlns:a16="http://schemas.microsoft.com/office/drawing/2014/main" id="{50BD3991-2E2C-406F-95BD-B26421AA9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676775"/>
            <a:ext cx="2649141" cy="171450"/>
          </a:xfrm>
          <a:prstGeom xmlns:a="http://schemas.openxmlformats.org/drawingml/2006/main" prst="roundRect">
            <a:avLst>
              <a:gd name="adj" fmla="val 44444"/>
            </a:avLst>
          </a:prstGeom>
          <a:solidFill xmlns:a="http://schemas.openxmlformats.org/drawingml/2006/main">
            <a:srgbClr val="2867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text">
            <a:extLst xmlns:a="http://schemas.openxmlformats.org/drawingml/2006/main">
              <a:ext uri="{FF2B5EF4-FFF2-40B4-BE49-F238E27FC236}">
                <a16:creationId xmlns:a16="http://schemas.microsoft.com/office/drawing/2014/main" id="{390E2353-5850-4466-9558-F12C41638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4610100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0243A"/>
                </a:solidFill>
                <a:latin typeface="Arial"/>
                <a:ea typeface="Arial"/>
                <a:cs typeface="Arial"/>
              </a:rPr>
              <a:t>0.0563</a:t>
            </a:r>
          </a:p>
        </p:txBody>
      </p:sp>
      <p:sp>
        <p:nvSpPr>
          <p:cNvPr id="29" name="text">
            <a:extLst xmlns:a="http://schemas.openxmlformats.org/drawingml/2006/main">
              <a:ext uri="{FF2B5EF4-FFF2-40B4-BE49-F238E27FC236}">
                <a16:creationId xmlns:a16="http://schemas.microsoft.com/office/drawing/2014/main" id="{D0EE683E-DA51-4770-87FC-5EC0E31FD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943475"/>
            <a:ext cx="423862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26579"/>
                </a:solidFill>
                <a:latin typeface="Arial"/>
                <a:ea typeface="Arial"/>
                <a:cs typeface="Arial"/>
              </a:rPr>
              <a:t>Sigmoid calibrated</a:t>
            </a:r>
          </a:p>
        </p:txBody>
      </p:sp>
      <p:sp>
        <p:nvSpPr>
          <p:cNvPr id="30" name="card">
            <a:extLst xmlns:a="http://schemas.openxmlformats.org/drawingml/2006/main">
              <a:ext uri="{FF2B5EF4-FFF2-40B4-BE49-F238E27FC236}">
                <a16:creationId xmlns:a16="http://schemas.microsoft.com/office/drawing/2014/main" id="{C37F1292-EBF1-4A4E-8C55-800E7AC11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191125"/>
            <a:ext cx="4238625" cy="171450"/>
          </a:xfrm>
          <a:prstGeom xmlns:a="http://schemas.openxmlformats.org/drawingml/2006/main" prst="roundRect">
            <a:avLst>
              <a:gd name="adj" fmla="val 44444"/>
            </a:avLst>
          </a:prstGeom>
          <a:solidFill xmlns:a="http://schemas.openxmlformats.org/drawingml/2006/main">
            <a:srgbClr val="E7ED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card">
            <a:extLst xmlns:a="http://schemas.openxmlformats.org/drawingml/2006/main">
              <a:ext uri="{FF2B5EF4-FFF2-40B4-BE49-F238E27FC236}">
                <a16:creationId xmlns:a16="http://schemas.microsoft.com/office/drawing/2014/main" id="{A08884CC-4AE2-4C17-86D9-B0A2A6029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191125"/>
            <a:ext cx="2722610" cy="171450"/>
          </a:xfrm>
          <a:prstGeom xmlns:a="http://schemas.openxmlformats.org/drawingml/2006/main" prst="roundRect">
            <a:avLst>
              <a:gd name="adj" fmla="val 44444"/>
            </a:avLst>
          </a:prstGeom>
          <a:solidFill xmlns:a="http://schemas.openxmlformats.org/drawingml/2006/main">
            <a:srgbClr val="D778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">
            <a:extLst xmlns:a="http://schemas.openxmlformats.org/drawingml/2006/main">
              <a:ext uri="{FF2B5EF4-FFF2-40B4-BE49-F238E27FC236}">
                <a16:creationId xmlns:a16="http://schemas.microsoft.com/office/drawing/2014/main" id="{6C3A3611-9CF7-412F-A3C6-1E8C86267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5124450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0243A"/>
                </a:solidFill>
                <a:latin typeface="Arial"/>
                <a:ea typeface="Arial"/>
                <a:cs typeface="Arial"/>
              </a:rPr>
              <a:t>0.0578</a:t>
            </a:r>
          </a:p>
        </p:txBody>
      </p:sp>
      <p:sp>
        <p:nvSpPr>
          <p:cNvPr id="33" name="card">
            <a:extLst xmlns:a="http://schemas.openxmlformats.org/drawingml/2006/main">
              <a:ext uri="{FF2B5EF4-FFF2-40B4-BE49-F238E27FC236}">
                <a16:creationId xmlns:a16="http://schemas.microsoft.com/office/drawing/2014/main" id="{9D397B83-624D-47E2-AE4F-43D36A6E3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590925"/>
            <a:ext cx="3733800" cy="2124075"/>
          </a:xfrm>
          <a:prstGeom xmlns:a="http://schemas.openxmlformats.org/drawingml/2006/main" prst="roundRect">
            <a:avLst>
              <a:gd name="adj" fmla="val 3587"/>
            </a:avLst>
          </a:prstGeom>
          <a:solidFill xmlns:a="http://schemas.openxmlformats.org/drawingml/2006/main">
            <a:srgbClr val="F8EDE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text">
            <a:extLst xmlns:a="http://schemas.openxmlformats.org/drawingml/2006/main">
              <a:ext uri="{FF2B5EF4-FFF2-40B4-BE49-F238E27FC236}">
                <a16:creationId xmlns:a16="http://schemas.microsoft.com/office/drawing/2014/main" id="{6DD04C5E-AEE8-45D3-A90F-5224D7611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800475"/>
            <a:ext cx="323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243A"/>
                </a:solidFill>
                <a:latin typeface="Arial"/>
                <a:ea typeface="Arial"/>
                <a:cs typeface="Arial"/>
              </a:rPr>
              <a:t>Calibration did not help here</a:t>
            </a:r>
          </a:p>
        </p:txBody>
      </p:sp>
      <p:sp>
        <p:nvSpPr>
          <p:cNvPr id="35" name="text">
            <a:extLst xmlns:a="http://schemas.openxmlformats.org/drawingml/2006/main">
              <a:ext uri="{FF2B5EF4-FFF2-40B4-BE49-F238E27FC236}">
                <a16:creationId xmlns:a16="http://schemas.microsoft.com/office/drawing/2014/main" id="{2FBD935C-5734-4043-973B-CAF0B6FF1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438650"/>
            <a:ext cx="32004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1024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10243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0243A"/>
                </a:solidFill>
                <a:latin typeface="Arial"/>
                <a:ea typeface="Arial"/>
                <a:cs typeface="Arial"/>
              </a:rPr>
              <a:t>On this holdout, calibration slightly worsened Brier score and log loss. Keep the calibrated result only where its threshold behavior is useful; do not assume it improves probabilities.</a:t>
            </a:r>
          </a:p>
        </p:txBody>
      </p:sp>
      <p:sp>
        <p:nvSpPr>
          <p:cNvPr id="36" name="text">
            <a:extLst xmlns:a="http://schemas.openxmlformats.org/drawingml/2006/main">
              <a:ext uri="{FF2B5EF4-FFF2-40B4-BE49-F238E27FC236}">
                <a16:creationId xmlns:a16="http://schemas.microsoft.com/office/drawing/2014/main" id="{7041BA30-455B-40F8-B846-4FE9D613B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848350"/>
            <a:ext cx="1038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1050" b="1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26579"/>
                </a:solidFill>
                <a:latin typeface="Arial"/>
                <a:ea typeface="Arial"/>
                <a:cs typeface="Arial"/>
              </a:rPr>
              <a:t>At the 0.5 threshold, calibrated churn recall = 29.4% (precision = 74.3%).</a:t>
            </a:r>
          </a:p>
        </p:txBody>
      </p:sp>
    </p:spTree>
    <p:extLst>
      <p:ext uri="{BB962C8B-B14F-4D97-AF65-F5344CB8AC3E}">
        <p14:creationId xmlns:p14="http://schemas.microsoft.com/office/powerpoint/2010/main" val="23135828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slide-4-kicker">
            <a:extLst xmlns:a="http://schemas.openxmlformats.org/drawingml/2006/main">
              <a:ext uri="{FF2B5EF4-FFF2-40B4-BE49-F238E27FC236}">
                <a16:creationId xmlns:a16="http://schemas.microsoft.com/office/drawing/2014/main" id="{83A70AE9-9F51-4D81-8E62-1E69425C8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007F8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007F86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07F86"/>
                </a:solidFill>
                <a:latin typeface="Arial"/>
                <a:ea typeface="Arial"/>
                <a:cs typeface="Arial"/>
              </a:rPr>
              <a:t>03 / EXPLAINABILITY</a:t>
            </a:r>
          </a:p>
        </p:txBody>
      </p:sp>
      <p:sp>
        <p:nvSpPr>
          <p:cNvPr id="2" name="slide-4-title">
            <a:extLst xmlns:a="http://schemas.openxmlformats.org/drawingml/2006/main">
              <a:ext uri="{FF2B5EF4-FFF2-40B4-BE49-F238E27FC236}">
                <a16:creationId xmlns:a16="http://schemas.microsoft.com/office/drawing/2014/main" id="{0E9DEB72-7B64-4616-90F5-767F8D032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81087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0243A"/>
                </a:solidFill>
                <a:latin typeface="Arial"/>
                <a:ea typeface="Arial"/>
                <a:cs typeface="Arial"/>
              </a:rPr>
              <a:t>Explanations point to payment behavior—not a causal story</a:t>
            </a:r>
          </a:p>
        </p:txBody>
      </p:sp>
      <p:sp>
        <p:nvSpPr>
          <p:cNvPr id="3" name="slide-4-rule">
            <a:extLst xmlns:a="http://schemas.openxmlformats.org/drawingml/2006/main">
              <a:ext uri="{FF2B5EF4-FFF2-40B4-BE49-F238E27FC236}">
                <a16:creationId xmlns:a16="http://schemas.microsoft.com/office/drawing/2014/main" id="{7A7D44B3-E7E4-4CED-BDEE-04A864251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1912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DFF26190-3F4F-42AF-B129-E583EE31B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15075"/>
            <a:ext cx="647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825" b="1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825" b="1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526579"/>
                </a:solidFill>
                <a:latin typeface="Arial"/>
                <a:ea typeface="Arial"/>
                <a:cs typeface="Arial"/>
              </a:rPr>
              <a:t>CHURN • EXPLAINABILITY • FAIRNESS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8B50B62B-F559-4971-9785-FE9247050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r">
              <a:defRPr sz="900" b="1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1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26579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E18F8D17-C449-45BB-AC30-7B4FB149C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5255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579"/>
                </a:solidFill>
                <a:latin typeface="Arial"/>
                <a:ea typeface="Arial"/>
                <a:cs typeface="Arial"/>
              </a:rPr>
              <a:t>Global SHAP importance • mean absolute contribution to model raw margin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EACE32-E9FC-4244-88E3-8395E1BACE4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f66f43625b457c"/>
          <a:stretch xmlns:a="http://schemas.openxmlformats.org/drawingml/2006/main"/>
        </p:blipFill>
        <p:spPr>
          <a:xfrm xmlns:a="http://schemas.openxmlformats.org/drawingml/2006/main">
            <a:off x="1925733" y="1752600"/>
            <a:ext cx="4206684" cy="3943350"/>
          </a:xfrm>
          <a:prstGeom xmlns:a="http://schemas.openxmlformats.org/drawingml/2006/main" prst="rect">
            <a:avLst/>
          </a:prstGeom>
        </p:spPr>
      </p:pic>
      <p:sp>
        <p:nvSpPr>
          <p:cNvPr id="8" name="card">
            <a:extLst xmlns:a="http://schemas.openxmlformats.org/drawingml/2006/main">
              <a:ext uri="{FF2B5EF4-FFF2-40B4-BE49-F238E27FC236}">
                <a16:creationId xmlns:a16="http://schemas.microsoft.com/office/drawing/2014/main" id="{EFB3EE0B-AFE7-4FBC-A50B-3490DDA88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1809750"/>
            <a:ext cx="3733800" cy="3733800"/>
          </a:xfrm>
          <a:prstGeom xmlns:a="http://schemas.openxmlformats.org/drawingml/2006/main" prst="roundRect">
            <a:avLst>
              <a:gd name="adj" fmla="val 204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A"/>
            </a:solidFill>
            <a:prstDash val="solid"/>
          </a:ln>
        </p:spPr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4DE3FB28-75B2-4ABE-9AB0-5A3ED32C2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038350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0243A"/>
                </a:solidFill>
                <a:latin typeface="Arial"/>
                <a:ea typeface="Arial"/>
                <a:cs typeface="Arial"/>
              </a:rPr>
              <a:t>Leading signals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C2EE6AB8-CD9E-44F9-BC1B-E9E7BDAAB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571750"/>
            <a:ext cx="342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900" b="1">
                <a:solidFill>
                  <a:srgbClr val="007F8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007F86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007F86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BBE81483-43F2-4047-A6EE-83EFC592D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575" y="25717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105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0243A"/>
                </a:solidFill>
                <a:latin typeface="Arial"/>
                <a:ea typeface="Arial"/>
                <a:cs typeface="Arial"/>
              </a:rPr>
              <a:t>Auto-renew status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1FA1056C-C2F4-4619-9F22-94FF74256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2571750"/>
            <a:ext cx="619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r">
              <a:defRPr sz="1050" b="1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050" b="1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26579"/>
                </a:solidFill>
                <a:latin typeface="Arial"/>
                <a:ea typeface="Arial"/>
                <a:cs typeface="Arial"/>
              </a:rPr>
              <a:t>0.485</a:t>
            </a:r>
          </a:p>
        </p:txBody>
      </p:sp>
      <p:sp>
        <p:nvSpPr>
          <p:cNvPr id="13" name="card">
            <a:extLst xmlns:a="http://schemas.openxmlformats.org/drawingml/2006/main">
              <a:ext uri="{FF2B5EF4-FFF2-40B4-BE49-F238E27FC236}">
                <a16:creationId xmlns:a16="http://schemas.microsoft.com/office/drawing/2014/main" id="{628A3F92-5C66-49FE-BE65-4011D0FF5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05125"/>
            <a:ext cx="31527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0E2E4D7D-2E7E-4707-A12E-CD55F6CED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095625"/>
            <a:ext cx="342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900" b="1">
                <a:solidFill>
                  <a:srgbClr val="007F8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007F86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007F86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E109A7C7-8003-4191-94F4-38B80284B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575" y="3095625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105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0243A"/>
                </a:solidFill>
                <a:latin typeface="Arial"/>
                <a:ea typeface="Arial"/>
                <a:cs typeface="Arial"/>
              </a:rPr>
              <a:t>Plan list price • 90d</a:t>
            </a:r>
          </a:p>
        </p:txBody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DC04A34C-3C1D-47CB-BB2D-E02960E8B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095625"/>
            <a:ext cx="619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r">
              <a:defRPr sz="1050" b="1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050" b="1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26579"/>
                </a:solidFill>
                <a:latin typeface="Arial"/>
                <a:ea typeface="Arial"/>
                <a:cs typeface="Arial"/>
              </a:rPr>
              <a:t>0.305</a:t>
            </a:r>
          </a:p>
        </p:txBody>
      </p:sp>
      <p:sp>
        <p:nvSpPr>
          <p:cNvPr id="17" name="card">
            <a:extLst xmlns:a="http://schemas.openxmlformats.org/drawingml/2006/main">
              <a:ext uri="{FF2B5EF4-FFF2-40B4-BE49-F238E27FC236}">
                <a16:creationId xmlns:a16="http://schemas.microsoft.com/office/drawing/2014/main" id="{665960A5-F15A-41B4-8DA8-E37A2D028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429000"/>
            <a:ext cx="31527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09D52FB9-EAC8-4558-AE18-9ADB475F0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619500"/>
            <a:ext cx="342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900" b="1">
                <a:solidFill>
                  <a:srgbClr val="007F8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007F86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007F86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9" name="text">
            <a:extLst xmlns:a="http://schemas.openxmlformats.org/drawingml/2006/main">
              <a:ext uri="{FF2B5EF4-FFF2-40B4-BE49-F238E27FC236}">
                <a16:creationId xmlns:a16="http://schemas.microsoft.com/office/drawing/2014/main" id="{1E2ACE55-C8E8-4371-99C1-C241EEF6C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575" y="361950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105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0243A"/>
                </a:solidFill>
                <a:latin typeface="Arial"/>
                <a:ea typeface="Arial"/>
                <a:cs typeface="Arial"/>
              </a:rPr>
              <a:t>Cancellation flag • 90d</a:t>
            </a:r>
          </a:p>
        </p:txBody>
      </p:sp>
      <p:sp>
        <p:nvSpPr>
          <p:cNvPr id="20" name="text">
            <a:extLst xmlns:a="http://schemas.openxmlformats.org/drawingml/2006/main">
              <a:ext uri="{FF2B5EF4-FFF2-40B4-BE49-F238E27FC236}">
                <a16:creationId xmlns:a16="http://schemas.microsoft.com/office/drawing/2014/main" id="{D67EFF01-5FD2-4A35-AB0C-75F6870D6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619500"/>
            <a:ext cx="619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r">
              <a:defRPr sz="1050" b="1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050" b="1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26579"/>
                </a:solidFill>
                <a:latin typeface="Arial"/>
                <a:ea typeface="Arial"/>
                <a:cs typeface="Arial"/>
              </a:rPr>
              <a:t>0.274</a:t>
            </a:r>
          </a:p>
        </p:txBody>
      </p:sp>
      <p:sp>
        <p:nvSpPr>
          <p:cNvPr id="21" name="card">
            <a:extLst xmlns:a="http://schemas.openxmlformats.org/drawingml/2006/main">
              <a:ext uri="{FF2B5EF4-FFF2-40B4-BE49-F238E27FC236}">
                <a16:creationId xmlns:a16="http://schemas.microsoft.com/office/drawing/2014/main" id="{439AA862-D94B-4E9A-AE31-BC390744C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952875"/>
            <a:ext cx="31527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text">
            <a:extLst xmlns:a="http://schemas.openxmlformats.org/drawingml/2006/main">
              <a:ext uri="{FF2B5EF4-FFF2-40B4-BE49-F238E27FC236}">
                <a16:creationId xmlns:a16="http://schemas.microsoft.com/office/drawing/2014/main" id="{79207BF9-A228-4739-BEF3-8F6995515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143375"/>
            <a:ext cx="342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900" b="1">
                <a:solidFill>
                  <a:srgbClr val="007F8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007F86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007F86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3" name="text">
            <a:extLst xmlns:a="http://schemas.openxmlformats.org/drawingml/2006/main">
              <a:ext uri="{FF2B5EF4-FFF2-40B4-BE49-F238E27FC236}">
                <a16:creationId xmlns:a16="http://schemas.microsoft.com/office/drawing/2014/main" id="{E597320A-CB98-41DD-980F-D4FBDF8FA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575" y="4143375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105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0243A"/>
                </a:solidFill>
                <a:latin typeface="Arial"/>
                <a:ea typeface="Arial"/>
                <a:cs typeface="Arial"/>
              </a:rPr>
              <a:t>Transaction count</a:t>
            </a:r>
          </a:p>
        </p:txBody>
      </p:sp>
      <p:sp>
        <p:nvSpPr>
          <p:cNvPr id="24" name="text">
            <a:extLst xmlns:a="http://schemas.openxmlformats.org/drawingml/2006/main">
              <a:ext uri="{FF2B5EF4-FFF2-40B4-BE49-F238E27FC236}">
                <a16:creationId xmlns:a16="http://schemas.microsoft.com/office/drawing/2014/main" id="{48F2C7BF-DCB2-402E-9AF3-4FB2D83F2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4143375"/>
            <a:ext cx="619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r">
              <a:defRPr sz="1050" b="1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050" b="1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26579"/>
                </a:solidFill>
                <a:latin typeface="Arial"/>
                <a:ea typeface="Arial"/>
                <a:cs typeface="Arial"/>
              </a:rPr>
              <a:t>0.271</a:t>
            </a:r>
          </a:p>
        </p:txBody>
      </p:sp>
      <p:sp>
        <p:nvSpPr>
          <p:cNvPr id="25" name="card">
            <a:extLst xmlns:a="http://schemas.openxmlformats.org/drawingml/2006/main">
              <a:ext uri="{FF2B5EF4-FFF2-40B4-BE49-F238E27FC236}">
                <a16:creationId xmlns:a16="http://schemas.microsoft.com/office/drawing/2014/main" id="{5098FDDD-1F21-4447-915A-084A641F3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476750"/>
            <a:ext cx="31527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">
            <a:extLst xmlns:a="http://schemas.openxmlformats.org/drawingml/2006/main">
              <a:ext uri="{FF2B5EF4-FFF2-40B4-BE49-F238E27FC236}">
                <a16:creationId xmlns:a16="http://schemas.microsoft.com/office/drawing/2014/main" id="{BE100F87-BE5A-488A-85BE-638B0B2EC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667250"/>
            <a:ext cx="342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900" b="1">
                <a:solidFill>
                  <a:srgbClr val="007F8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007F86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007F86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7" name="text">
            <a:extLst xmlns:a="http://schemas.openxmlformats.org/drawingml/2006/main">
              <a:ext uri="{FF2B5EF4-FFF2-40B4-BE49-F238E27FC236}">
                <a16:creationId xmlns:a16="http://schemas.microsoft.com/office/drawing/2014/main" id="{DDFB7740-3FB3-446C-B464-83582B9F2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575" y="46672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105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0243A"/>
                </a:solidFill>
                <a:latin typeface="Arial"/>
                <a:ea typeface="Arial"/>
                <a:cs typeface="Arial"/>
              </a:rPr>
              <a:t>Days since last txn</a:t>
            </a:r>
          </a:p>
        </p:txBody>
      </p:sp>
      <p:sp>
        <p:nvSpPr>
          <p:cNvPr id="28" name="text">
            <a:extLst xmlns:a="http://schemas.openxmlformats.org/drawingml/2006/main">
              <a:ext uri="{FF2B5EF4-FFF2-40B4-BE49-F238E27FC236}">
                <a16:creationId xmlns:a16="http://schemas.microsoft.com/office/drawing/2014/main" id="{A521F76F-F8B3-464E-80B5-0104EAFF8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4667250"/>
            <a:ext cx="619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r">
              <a:defRPr sz="1050" b="1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050" b="1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26579"/>
                </a:solidFill>
                <a:latin typeface="Arial"/>
                <a:ea typeface="Arial"/>
                <a:cs typeface="Arial"/>
              </a:rPr>
              <a:t>0.221</a:t>
            </a:r>
          </a:p>
        </p:txBody>
      </p:sp>
      <p:sp>
        <p:nvSpPr>
          <p:cNvPr id="29" name="card">
            <a:extLst xmlns:a="http://schemas.openxmlformats.org/drawingml/2006/main">
              <a:ext uri="{FF2B5EF4-FFF2-40B4-BE49-F238E27FC236}">
                <a16:creationId xmlns:a16="http://schemas.microsoft.com/office/drawing/2014/main" id="{1E059CAE-59B4-4DA2-AA03-70429EFE1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5657850"/>
            <a:ext cx="3733800" cy="390525"/>
          </a:xfrm>
          <a:prstGeom xmlns:a="http://schemas.openxmlformats.org/drawingml/2006/main" prst="roundRect">
            <a:avLst>
              <a:gd name="adj" fmla="val 19512"/>
            </a:avLst>
          </a:prstGeom>
          <a:solidFill xmlns:a="http://schemas.openxmlformats.org/drawingml/2006/main">
            <a:srgbClr val="F8EDE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text">
            <a:extLst xmlns:a="http://schemas.openxmlformats.org/drawingml/2006/main">
              <a:ext uri="{FF2B5EF4-FFF2-40B4-BE49-F238E27FC236}">
                <a16:creationId xmlns:a16="http://schemas.microsoft.com/office/drawing/2014/main" id="{03971C54-1234-4D55-B3F9-1F1888517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95950"/>
            <a:ext cx="3467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ctr">
              <a:defRPr sz="975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975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0243A"/>
                </a:solidFill>
                <a:latin typeface="Arial"/>
                <a:ea typeface="Arial"/>
                <a:cs typeface="Arial"/>
              </a:rPr>
              <a:t>SHAP describes model behavior, not causation.</a:t>
            </a:r>
          </a:p>
        </p:txBody>
      </p:sp>
    </p:spTree>
    <p:extLst>
      <p:ext uri="{BB962C8B-B14F-4D97-AF65-F5344CB8AC3E}">
        <p14:creationId xmlns:p14="http://schemas.microsoft.com/office/powerpoint/2010/main" val="85779557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slide-5-kicker">
            <a:extLst xmlns:a="http://schemas.openxmlformats.org/drawingml/2006/main">
              <a:ext uri="{FF2B5EF4-FFF2-40B4-BE49-F238E27FC236}">
                <a16:creationId xmlns:a16="http://schemas.microsoft.com/office/drawing/2014/main" id="{15C78A36-600C-4ED2-9593-85F4F8250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007F8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007F86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07F86"/>
                </a:solidFill>
                <a:latin typeface="Arial"/>
                <a:ea typeface="Arial"/>
                <a:cs typeface="Arial"/>
              </a:rPr>
              <a:t>04 / FAIRNESS TRADE-OFF</a:t>
            </a:r>
          </a:p>
        </p:txBody>
      </p:sp>
      <p:sp>
        <p:nvSpPr>
          <p:cNvPr id="2" name="slide-5-title">
            <a:extLst xmlns:a="http://schemas.openxmlformats.org/drawingml/2006/main">
              <a:ext uri="{FF2B5EF4-FFF2-40B4-BE49-F238E27FC236}">
                <a16:creationId xmlns:a16="http://schemas.microsoft.com/office/drawing/2014/main" id="{1C9C151A-F0E7-46C7-B95F-5848740C8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81087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0243A"/>
                </a:solidFill>
                <a:latin typeface="Arial"/>
                <a:ea typeface="Arial"/>
                <a:cs typeface="Arial"/>
              </a:rPr>
              <a:t>Parity improved—while equal opportunity got worse</a:t>
            </a:r>
          </a:p>
        </p:txBody>
      </p:sp>
      <p:sp>
        <p:nvSpPr>
          <p:cNvPr id="3" name="slide-5-rule">
            <a:extLst xmlns:a="http://schemas.openxmlformats.org/drawingml/2006/main">
              <a:ext uri="{FF2B5EF4-FFF2-40B4-BE49-F238E27FC236}">
                <a16:creationId xmlns:a16="http://schemas.microsoft.com/office/drawing/2014/main" id="{4D2466A5-2570-453E-B5D2-113790C8D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1912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C5A6EA29-3436-4D1C-B9A1-FF8CADDF3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15075"/>
            <a:ext cx="647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825" b="1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825" b="1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526579"/>
                </a:solidFill>
                <a:latin typeface="Arial"/>
                <a:ea typeface="Arial"/>
                <a:cs typeface="Arial"/>
              </a:rPr>
              <a:t>CHURN • EXPLAINABILITY • FAIRNESS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6D1BCB4A-BC30-44CA-B35D-9B698477A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r">
              <a:defRPr sz="900" b="1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1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26579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00E58A73-A100-44CB-B894-DBFB8D7FA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525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579"/>
                </a:solidFill>
                <a:latin typeface="Arial"/>
                <a:ea typeface="Arial"/>
                <a:cs typeface="Arial"/>
              </a:rPr>
              <a:t>Gender groups • held-out March cohort • Fairlearn ThresholdOptimizer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1397ED97-7996-4910-ACDE-200EB2F01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1914525"/>
            <a:ext cx="304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900" b="1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26579"/>
                </a:solidFill>
                <a:latin typeface="Arial"/>
                <a:ea typeface="Arial"/>
                <a:cs typeface="Arial"/>
              </a:rPr>
              <a:t>MAX–MIN GROUP GAP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D35C693D-6544-4F96-BF76-DDCE98725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76500"/>
            <a:ext cx="2333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0243A"/>
                </a:solidFill>
                <a:latin typeface="Arial"/>
                <a:ea typeface="Arial"/>
                <a:cs typeface="Arial"/>
              </a:rPr>
              <a:t>Global threshold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C31EE3F6-9847-4407-8BBE-D855B1EEF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2266950"/>
            <a:ext cx="25717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26579"/>
                </a:solidFill>
                <a:latin typeface="Arial"/>
                <a:ea typeface="Arial"/>
                <a:cs typeface="Arial"/>
              </a:rPr>
              <a:t>Selection rate</a:t>
            </a:r>
          </a:p>
        </p:txBody>
      </p:sp>
      <p:sp>
        <p:nvSpPr>
          <p:cNvPr id="10" name="card">
            <a:extLst xmlns:a="http://schemas.openxmlformats.org/drawingml/2006/main">
              <a:ext uri="{FF2B5EF4-FFF2-40B4-BE49-F238E27FC236}">
                <a16:creationId xmlns:a16="http://schemas.microsoft.com/office/drawing/2014/main" id="{829341D1-3D21-44C4-A40D-80B4EAF82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2514600"/>
            <a:ext cx="2571750" cy="19050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7ED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card">
            <a:extLst xmlns:a="http://schemas.openxmlformats.org/drawingml/2006/main">
              <a:ext uri="{FF2B5EF4-FFF2-40B4-BE49-F238E27FC236}">
                <a16:creationId xmlns:a16="http://schemas.microsoft.com/office/drawing/2014/main" id="{2FDBB03A-7E22-4437-855E-3D98AD026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2514600"/>
            <a:ext cx="389020" cy="19050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867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77A1D778-E03E-436A-B73C-5C009C9FE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725" y="2447925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0243A"/>
                </a:solidFill>
                <a:latin typeface="Arial"/>
                <a:ea typeface="Arial"/>
                <a:cs typeface="Arial"/>
              </a:rPr>
              <a:t>2.72 pp [2.44–2.99]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A015C343-116D-43F4-AECC-BAEBD1489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2771775"/>
            <a:ext cx="25717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26579"/>
                </a:solidFill>
                <a:latin typeface="Arial"/>
                <a:ea typeface="Arial"/>
                <a:cs typeface="Arial"/>
              </a:rPr>
              <a:t>True positive rate</a:t>
            </a:r>
          </a:p>
        </p:txBody>
      </p:sp>
      <p:sp>
        <p:nvSpPr>
          <p:cNvPr id="14" name="card">
            <a:extLst xmlns:a="http://schemas.openxmlformats.org/drawingml/2006/main">
              <a:ext uri="{FF2B5EF4-FFF2-40B4-BE49-F238E27FC236}">
                <a16:creationId xmlns:a16="http://schemas.microsoft.com/office/drawing/2014/main" id="{AAEA3F21-96B0-422F-9664-84B8F9889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3019425"/>
            <a:ext cx="2571750" cy="19050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7ED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card">
            <a:extLst xmlns:a="http://schemas.openxmlformats.org/drawingml/2006/main">
              <a:ext uri="{FF2B5EF4-FFF2-40B4-BE49-F238E27FC236}">
                <a16:creationId xmlns:a16="http://schemas.microsoft.com/office/drawing/2014/main" id="{C8AEDEC3-E703-47FF-848D-C2E536FDB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3019425"/>
            <a:ext cx="385734" cy="19050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867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E74B02A1-3B57-4C75-B7C2-4D05F627F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725" y="2952750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0243A"/>
                </a:solidFill>
                <a:latin typeface="Arial"/>
                <a:ea typeface="Arial"/>
                <a:cs typeface="Arial"/>
              </a:rPr>
              <a:t>2.70 pp [1.34–4.55]</a:t>
            </a:r>
          </a:p>
        </p:txBody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EC00D1ED-62D2-45A4-8042-C6B50D6F3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781425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0243A"/>
                </a:solidFill>
                <a:latin typeface="Arial"/>
                <a:ea typeface="Arial"/>
                <a:cs typeface="Arial"/>
              </a:rPr>
              <a:t>Parity postprocessor</a:t>
            </a:r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B7715ED4-5FE4-416D-ADA0-22EC1AEC6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3571875"/>
            <a:ext cx="25717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26579"/>
                </a:solidFill>
                <a:latin typeface="Arial"/>
                <a:ea typeface="Arial"/>
                <a:cs typeface="Arial"/>
              </a:rPr>
              <a:t>Selection rate</a:t>
            </a:r>
          </a:p>
        </p:txBody>
      </p:sp>
      <p:sp>
        <p:nvSpPr>
          <p:cNvPr id="19" name="card">
            <a:extLst xmlns:a="http://schemas.openxmlformats.org/drawingml/2006/main">
              <a:ext uri="{FF2B5EF4-FFF2-40B4-BE49-F238E27FC236}">
                <a16:creationId xmlns:a16="http://schemas.microsoft.com/office/drawing/2014/main" id="{427A220E-6268-4817-9D03-16041214D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3819525"/>
            <a:ext cx="2571750" cy="19050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7ED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card">
            <a:extLst xmlns:a="http://schemas.openxmlformats.org/drawingml/2006/main">
              <a:ext uri="{FF2B5EF4-FFF2-40B4-BE49-F238E27FC236}">
                <a16:creationId xmlns:a16="http://schemas.microsoft.com/office/drawing/2014/main" id="{C6E69536-23AB-423D-B908-045E4243F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3819525"/>
            <a:ext cx="3800" cy="19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7F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text">
            <a:extLst xmlns:a="http://schemas.openxmlformats.org/drawingml/2006/main">
              <a:ext uri="{FF2B5EF4-FFF2-40B4-BE49-F238E27FC236}">
                <a16:creationId xmlns:a16="http://schemas.microsoft.com/office/drawing/2014/main" id="{5A6721E8-5F32-483D-9FB0-D3043EA8C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725" y="3752850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0243A"/>
                </a:solidFill>
                <a:latin typeface="Arial"/>
                <a:ea typeface="Arial"/>
                <a:cs typeface="Arial"/>
              </a:rPr>
              <a:t>0.03 pp [0.03–0.32]</a:t>
            </a:r>
          </a:p>
        </p:txBody>
      </p:sp>
      <p:sp>
        <p:nvSpPr>
          <p:cNvPr id="22" name="text">
            <a:extLst xmlns:a="http://schemas.openxmlformats.org/drawingml/2006/main">
              <a:ext uri="{FF2B5EF4-FFF2-40B4-BE49-F238E27FC236}">
                <a16:creationId xmlns:a16="http://schemas.microsoft.com/office/drawing/2014/main" id="{F792EDEB-5E91-4ABC-BD7E-964B89EC9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4076700"/>
            <a:ext cx="25717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26579"/>
                </a:solidFill>
                <a:latin typeface="Arial"/>
                <a:ea typeface="Arial"/>
                <a:cs typeface="Arial"/>
              </a:rPr>
              <a:t>True positive rate</a:t>
            </a:r>
          </a:p>
        </p:txBody>
      </p:sp>
      <p:sp>
        <p:nvSpPr>
          <p:cNvPr id="23" name="card">
            <a:extLst xmlns:a="http://schemas.openxmlformats.org/drawingml/2006/main">
              <a:ext uri="{FF2B5EF4-FFF2-40B4-BE49-F238E27FC236}">
                <a16:creationId xmlns:a16="http://schemas.microsoft.com/office/drawing/2014/main" id="{45354B28-2842-48DB-BDF3-5FB76F438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4324350"/>
            <a:ext cx="2571750" cy="19050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7ED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card">
            <a:extLst xmlns:a="http://schemas.openxmlformats.org/drawingml/2006/main">
              <a:ext uri="{FF2B5EF4-FFF2-40B4-BE49-F238E27FC236}">
                <a16:creationId xmlns:a16="http://schemas.microsoft.com/office/drawing/2014/main" id="{D7030207-35CE-47D4-A894-33F86381D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4324350"/>
            <a:ext cx="2410101" cy="19050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D778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text">
            <a:extLst xmlns:a="http://schemas.openxmlformats.org/drawingml/2006/main">
              <a:ext uri="{FF2B5EF4-FFF2-40B4-BE49-F238E27FC236}">
                <a16:creationId xmlns:a16="http://schemas.microsoft.com/office/drawing/2014/main" id="{6343878B-3BC1-46EE-BF29-904F87050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725" y="4257675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0243A"/>
                </a:solidFill>
                <a:latin typeface="Arial"/>
                <a:ea typeface="Arial"/>
                <a:cs typeface="Arial"/>
              </a:rPr>
              <a:t>16.87 pp [15.4–18.4]</a:t>
            </a:r>
          </a:p>
        </p:txBody>
      </p:sp>
      <p:sp>
        <p:nvSpPr>
          <p:cNvPr id="26" name="card">
            <a:extLst xmlns:a="http://schemas.openxmlformats.org/drawingml/2006/main">
              <a:ext uri="{FF2B5EF4-FFF2-40B4-BE49-F238E27FC236}">
                <a16:creationId xmlns:a16="http://schemas.microsoft.com/office/drawing/2014/main" id="{64B21870-4E71-4F0C-AAC9-83F1F7DB1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81575"/>
            <a:ext cx="6715125" cy="1009650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A"/>
            </a:solidFill>
            <a:prstDash val="solid"/>
          </a:ln>
        </p:spPr>
      </p:sp>
      <p:sp>
        <p:nvSpPr>
          <p:cNvPr id="27" name="text">
            <a:extLst xmlns:a="http://schemas.openxmlformats.org/drawingml/2006/main">
              <a:ext uri="{FF2B5EF4-FFF2-40B4-BE49-F238E27FC236}">
                <a16:creationId xmlns:a16="http://schemas.microsoft.com/office/drawing/2014/main" id="{61831F9E-6DFE-4258-9DFB-3BEEC2875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5105400"/>
            <a:ext cx="619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0243A"/>
                </a:solidFill>
                <a:latin typeface="Arial"/>
                <a:ea typeface="Arial"/>
                <a:cs typeface="Arial"/>
              </a:rPr>
              <a:t>What moved with the intervention</a:t>
            </a:r>
          </a:p>
        </p:txBody>
      </p:sp>
      <p:sp>
        <p:nvSpPr>
          <p:cNvPr id="28" name="text">
            <a:extLst xmlns:a="http://schemas.openxmlformats.org/drawingml/2006/main">
              <a:ext uri="{FF2B5EF4-FFF2-40B4-BE49-F238E27FC236}">
                <a16:creationId xmlns:a16="http://schemas.microsoft.com/office/drawing/2014/main" id="{F93A9956-5261-41DE-852C-814348158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54292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1050" b="1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26579"/>
                </a:solidFill>
                <a:latin typeface="Arial"/>
                <a:ea typeface="Arial"/>
                <a:cs typeface="Arial"/>
              </a:rPr>
              <a:t>Accuracy  92.7% → 92.3%     •     Accuracy gap  5.8 → 6.8 pp</a:t>
            </a:r>
          </a:p>
        </p:txBody>
      </p:sp>
      <p:sp>
        <p:nvSpPr>
          <p:cNvPr id="29" name="card">
            <a:extLst xmlns:a="http://schemas.openxmlformats.org/drawingml/2006/main">
              <a:ext uri="{FF2B5EF4-FFF2-40B4-BE49-F238E27FC236}">
                <a16:creationId xmlns:a16="http://schemas.microsoft.com/office/drawing/2014/main" id="{6BE123C1-B6EB-41CE-A4D6-0A4597C56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1866900"/>
            <a:ext cx="3733800" cy="4124325"/>
          </a:xfrm>
          <a:prstGeom xmlns:a="http://schemas.openxmlformats.org/drawingml/2006/main" prst="roundRect">
            <a:avLst>
              <a:gd name="adj" fmla="val 2041"/>
            </a:avLst>
          </a:prstGeom>
          <a:solidFill xmlns:a="http://schemas.openxmlformats.org/drawingml/2006/main">
            <a:srgbClr val="0B1C2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text">
            <a:extLst xmlns:a="http://schemas.openxmlformats.org/drawingml/2006/main">
              <a:ext uri="{FF2B5EF4-FFF2-40B4-BE49-F238E27FC236}">
                <a16:creationId xmlns:a16="http://schemas.microsoft.com/office/drawing/2014/main" id="{FAADAFAF-7C9B-461B-97D1-7A1C4E754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114550"/>
            <a:ext cx="3200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The audit context matters</a:t>
            </a:r>
          </a:p>
        </p:txBody>
      </p:sp>
      <p:sp>
        <p:nvSpPr>
          <p:cNvPr id="31" name="text">
            <a:extLst xmlns:a="http://schemas.openxmlformats.org/drawingml/2006/main">
              <a:ext uri="{FF2B5EF4-FFF2-40B4-BE49-F238E27FC236}">
                <a16:creationId xmlns:a16="http://schemas.microsoft.com/office/drawing/2014/main" id="{C43F8985-D368-4FC2-A3B2-816946D00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647950"/>
            <a:ext cx="3095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A7E2D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1">
                <a:solidFill>
                  <a:srgbClr val="A7E2D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A7E2D9"/>
                </a:solidFill>
                <a:latin typeface="Arial"/>
                <a:ea typeface="Arial"/>
                <a:cs typeface="Arial"/>
              </a:rPr>
              <a:t>“Missing” gender is 89,857 of 150,000 customers.</a:t>
            </a:r>
          </a:p>
        </p:txBody>
      </p:sp>
      <p:sp>
        <p:nvSpPr>
          <p:cNvPr id="32" name="text">
            <a:extLst xmlns:a="http://schemas.openxmlformats.org/drawingml/2006/main">
              <a:ext uri="{FF2B5EF4-FFF2-40B4-BE49-F238E27FC236}">
                <a16:creationId xmlns:a16="http://schemas.microsoft.com/office/drawing/2014/main" id="{F01AB782-EF2A-4E7F-ABF7-C1510E6C2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438525"/>
            <a:ext cx="3105150" cy="1057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Fairlearn’s demographic parity criterion made positive prediction rates nearly equal. It did not equalize recall; the TPR gap grew sharply.</a:t>
            </a:r>
          </a:p>
        </p:txBody>
      </p:sp>
      <p:sp>
        <p:nvSpPr>
          <p:cNvPr id="33" name="text">
            <a:extLst xmlns:a="http://schemas.openxmlformats.org/drawingml/2006/main">
              <a:ext uri="{FF2B5EF4-FFF2-40B4-BE49-F238E27FC236}">
                <a16:creationId xmlns:a16="http://schemas.microsoft.com/office/drawing/2014/main" id="{87C2CBDD-65FD-4927-A4FD-7CD6073FB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724400"/>
            <a:ext cx="31051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1050" b="0">
                <a:solidFill>
                  <a:srgbClr val="D0DCE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D0DCE7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D0DCE7"/>
                </a:solidFill>
                <a:latin typeface="Arial"/>
                <a:ea typeface="Arial"/>
                <a:cs typeface="Arial"/>
              </a:rPr>
              <a:t>The postprocessor uses group-specific randomized thresholds and needs the sensitive feature at inference.</a:t>
            </a:r>
          </a:p>
        </p:txBody>
      </p:sp>
    </p:spTree>
    <p:extLst>
      <p:ext uri="{BB962C8B-B14F-4D97-AF65-F5344CB8AC3E}">
        <p14:creationId xmlns:p14="http://schemas.microsoft.com/office/powerpoint/2010/main" val="61408235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slide-6-kicker">
            <a:extLst xmlns:a="http://schemas.openxmlformats.org/drawingml/2006/main">
              <a:ext uri="{FF2B5EF4-FFF2-40B4-BE49-F238E27FC236}">
                <a16:creationId xmlns:a16="http://schemas.microsoft.com/office/drawing/2014/main" id="{818CB133-12C7-45DA-80E8-0DE2F89EC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007F8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007F86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07F86"/>
                </a:solidFill>
                <a:latin typeface="Arial"/>
                <a:ea typeface="Arial"/>
                <a:cs typeface="Arial"/>
              </a:rPr>
              <a:t>05 / WHAT NEXT</a:t>
            </a:r>
          </a:p>
        </p:txBody>
      </p:sp>
      <p:sp>
        <p:nvSpPr>
          <p:cNvPr id="2" name="slide-6-title">
            <a:extLst xmlns:a="http://schemas.openxmlformats.org/drawingml/2006/main">
              <a:ext uri="{FF2B5EF4-FFF2-40B4-BE49-F238E27FC236}">
                <a16:creationId xmlns:a16="http://schemas.microsoft.com/office/drawing/2014/main" id="{D01C094C-E8CD-4F04-882C-BCB017478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81087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0243A"/>
                </a:solidFill>
                <a:latin typeface="Arial"/>
                <a:ea typeface="Arial"/>
                <a:cs typeface="Arial"/>
              </a:rPr>
              <a:t>A useful prototype is honest about what remains unknown</a:t>
            </a:r>
          </a:p>
        </p:txBody>
      </p:sp>
      <p:sp>
        <p:nvSpPr>
          <p:cNvPr id="3" name="slide-6-rule">
            <a:extLst xmlns:a="http://schemas.openxmlformats.org/drawingml/2006/main">
              <a:ext uri="{FF2B5EF4-FFF2-40B4-BE49-F238E27FC236}">
                <a16:creationId xmlns:a16="http://schemas.microsoft.com/office/drawing/2014/main" id="{CCBF6259-5617-4CDC-A365-CA0E357DD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1912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6ABCB398-5FBD-41D2-A313-775094326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15075"/>
            <a:ext cx="647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825" b="1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825" b="1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526579"/>
                </a:solidFill>
                <a:latin typeface="Arial"/>
                <a:ea typeface="Arial"/>
                <a:cs typeface="Arial"/>
              </a:rPr>
              <a:t>CHURN • EXPLAINABILITY • FAIRNESS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CA26357E-40E1-4964-82C3-D8FDD88C3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r">
              <a:defRPr sz="900" b="1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1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26579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952B21F7-5A63-419D-BF28-5D87B0B5D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52550"/>
            <a:ext cx="10382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79"/>
                </a:solidFill>
                <a:latin typeface="Arial"/>
                <a:ea typeface="Arial"/>
                <a:cs typeface="Arial"/>
              </a:rPr>
              <a:t>Good evidence for a demo. More evidence needed before any operational use.</a:t>
            </a:r>
          </a:p>
        </p:txBody>
      </p:sp>
      <p:sp>
        <p:nvSpPr>
          <p:cNvPr id="7" name="card">
            <a:extLst xmlns:a="http://schemas.openxmlformats.org/drawingml/2006/main">
              <a:ext uri="{FF2B5EF4-FFF2-40B4-BE49-F238E27FC236}">
                <a16:creationId xmlns:a16="http://schemas.microsoft.com/office/drawing/2014/main" id="{B9C8A45B-F4D8-49B2-87CB-6C93E97C5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95500"/>
            <a:ext cx="3467100" cy="2200275"/>
          </a:xfrm>
          <a:prstGeom xmlns:a="http://schemas.openxmlformats.org/drawingml/2006/main" prst="roundRect">
            <a:avLst>
              <a:gd name="adj" fmla="val 34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A"/>
            </a:solidFill>
            <a:prstDash val="solid"/>
          </a:ln>
        </p:spPr>
      </p:sp>
      <p:sp>
        <p:nvSpPr>
          <p:cNvPr id="8" name="card">
            <a:extLst xmlns:a="http://schemas.openxmlformats.org/drawingml/2006/main">
              <a:ext uri="{FF2B5EF4-FFF2-40B4-BE49-F238E27FC236}">
                <a16:creationId xmlns:a16="http://schemas.microsoft.com/office/drawing/2014/main" id="{BCCA1B68-FEAD-4A9D-863B-86A0A4227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95525"/>
            <a:ext cx="158115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E6F3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E2ECCCA8-40F0-4557-8BB5-51CD2BDC8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05050"/>
            <a:ext cx="1390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ctr">
              <a:defRPr sz="900" b="1">
                <a:solidFill>
                  <a:srgbClr val="007F8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900" b="1">
                <a:solidFill>
                  <a:srgbClr val="007F86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007F86"/>
                </a:solidFill>
                <a:latin typeface="Arial"/>
                <a:ea typeface="Arial"/>
                <a:cs typeface="Arial"/>
              </a:rPr>
              <a:t>01  •  DATA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604221D5-E78F-450E-BA41-2495BC83D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52725"/>
            <a:ext cx="304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243A"/>
                </a:solidFill>
                <a:latin typeface="Arial"/>
                <a:ea typeface="Arial"/>
                <a:cs typeface="Arial"/>
              </a:rPr>
              <a:t>Broaden the signal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3E6B4522-2F2E-46D1-9570-23DCF093E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48025"/>
            <a:ext cx="30194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579"/>
                </a:solidFill>
                <a:latin typeface="Arial"/>
                <a:ea typeface="Arial"/>
                <a:cs typeface="Arial"/>
              </a:rPr>
              <a:t>Add listening-history features; investigate why gender is missing; validate full-population and later-month cohorts.</a:t>
            </a:r>
          </a:p>
        </p:txBody>
      </p:sp>
      <p:sp>
        <p:nvSpPr>
          <p:cNvPr id="12" name="card">
            <a:extLst xmlns:a="http://schemas.openxmlformats.org/drawingml/2006/main">
              <a:ext uri="{FF2B5EF4-FFF2-40B4-BE49-F238E27FC236}">
                <a16:creationId xmlns:a16="http://schemas.microsoft.com/office/drawing/2014/main" id="{A68C4F61-758D-4D95-8854-3A18EDDBC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095500"/>
            <a:ext cx="3467100" cy="2200275"/>
          </a:xfrm>
          <a:prstGeom xmlns:a="http://schemas.openxmlformats.org/drawingml/2006/main" prst="roundRect">
            <a:avLst>
              <a:gd name="adj" fmla="val 34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A"/>
            </a:solidFill>
            <a:prstDash val="solid"/>
          </a:ln>
        </p:spPr>
      </p:sp>
      <p:sp>
        <p:nvSpPr>
          <p:cNvPr id="13" name="card">
            <a:extLst xmlns:a="http://schemas.openxmlformats.org/drawingml/2006/main">
              <a:ext uri="{FF2B5EF4-FFF2-40B4-BE49-F238E27FC236}">
                <a16:creationId xmlns:a16="http://schemas.microsoft.com/office/drawing/2014/main" id="{B8D24278-B3A0-4D44-9464-74FADE184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295525"/>
            <a:ext cx="158115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E8EE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5BD8A14A-EEE7-4CE9-A67E-51544E2D1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305050"/>
            <a:ext cx="1390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ctr">
              <a:defRPr sz="900" b="1">
                <a:solidFill>
                  <a:srgbClr val="2867B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900" b="1">
                <a:solidFill>
                  <a:srgbClr val="2867B2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2867B2"/>
                </a:solidFill>
                <a:latin typeface="Arial"/>
                <a:ea typeface="Arial"/>
                <a:cs typeface="Arial"/>
              </a:rPr>
              <a:t>02  •  EVALUATION</a:t>
            </a:r>
          </a:p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A284805B-0AEE-4D92-830A-62E511204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752725"/>
            <a:ext cx="304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243A"/>
                </a:solidFill>
                <a:latin typeface="Arial"/>
                <a:ea typeface="Arial"/>
                <a:cs typeface="Arial"/>
              </a:rPr>
              <a:t>Stress-test the policy</a:t>
            </a:r>
          </a:p>
        </p:txBody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22E0FA4C-AD74-4D74-B46E-4276535E4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248025"/>
            <a:ext cx="30194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579"/>
                </a:solidFill>
                <a:latin typeface="Arial"/>
                <a:ea typeface="Arial"/>
                <a:cs typeface="Arial"/>
              </a:rPr>
              <a:t>Repeat out-of-time tests; examine subgroup uncertainty; compare parity, equal opportunity and cost-based objectives.</a:t>
            </a:r>
          </a:p>
        </p:txBody>
      </p:sp>
      <p:sp>
        <p:nvSpPr>
          <p:cNvPr id="17" name="card">
            <a:extLst xmlns:a="http://schemas.openxmlformats.org/drawingml/2006/main">
              <a:ext uri="{FF2B5EF4-FFF2-40B4-BE49-F238E27FC236}">
                <a16:creationId xmlns:a16="http://schemas.microsoft.com/office/drawing/2014/main" id="{62E5E8B1-6CDD-44E0-81BA-6C6E7DB09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095500"/>
            <a:ext cx="3467100" cy="2200275"/>
          </a:xfrm>
          <a:prstGeom xmlns:a="http://schemas.openxmlformats.org/drawingml/2006/main" prst="roundRect">
            <a:avLst>
              <a:gd name="adj" fmla="val 34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A"/>
            </a:solidFill>
            <a:prstDash val="solid"/>
          </a:ln>
        </p:spPr>
      </p:sp>
      <p:sp>
        <p:nvSpPr>
          <p:cNvPr id="18" name="card">
            <a:extLst xmlns:a="http://schemas.openxmlformats.org/drawingml/2006/main">
              <a:ext uri="{FF2B5EF4-FFF2-40B4-BE49-F238E27FC236}">
                <a16:creationId xmlns:a16="http://schemas.microsoft.com/office/drawing/2014/main" id="{1C15E533-8EF1-4FA4-9FAB-A54BB036E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295525"/>
            <a:ext cx="158115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E6F3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text">
            <a:extLst xmlns:a="http://schemas.openxmlformats.org/drawingml/2006/main">
              <a:ext uri="{FF2B5EF4-FFF2-40B4-BE49-F238E27FC236}">
                <a16:creationId xmlns:a16="http://schemas.microsoft.com/office/drawing/2014/main" id="{77699C63-EF2B-450A-BEA9-9C9B65FFD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305050"/>
            <a:ext cx="1390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ctr">
              <a:defRPr sz="900" b="1">
                <a:solidFill>
                  <a:srgbClr val="007F8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900" b="1">
                <a:solidFill>
                  <a:srgbClr val="007F86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007F86"/>
                </a:solidFill>
                <a:latin typeface="Arial"/>
                <a:ea typeface="Arial"/>
                <a:cs typeface="Arial"/>
              </a:rPr>
              <a:t>03  •  GOVERNANCE</a:t>
            </a:r>
          </a:p>
        </p:txBody>
      </p:sp>
      <p:sp>
        <p:nvSpPr>
          <p:cNvPr id="20" name="text">
            <a:extLst xmlns:a="http://schemas.openxmlformats.org/drawingml/2006/main">
              <a:ext uri="{FF2B5EF4-FFF2-40B4-BE49-F238E27FC236}">
                <a16:creationId xmlns:a16="http://schemas.microsoft.com/office/drawing/2014/main" id="{F8E48FF8-6072-490A-8756-4E174C144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752725"/>
            <a:ext cx="304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243A"/>
                </a:solidFill>
                <a:latin typeface="Arial"/>
                <a:ea typeface="Arial"/>
                <a:cs typeface="Arial"/>
              </a:rPr>
              <a:t>Make it accountable</a:t>
            </a:r>
          </a:p>
        </p:txBody>
      </p:sp>
      <p:sp>
        <p:nvSpPr>
          <p:cNvPr id="21" name="text">
            <a:extLst xmlns:a="http://schemas.openxmlformats.org/drawingml/2006/main">
              <a:ext uri="{FF2B5EF4-FFF2-40B4-BE49-F238E27FC236}">
                <a16:creationId xmlns:a16="http://schemas.microsoft.com/office/drawing/2014/main" id="{58FF795C-A7DA-46A0-89DA-93C7D18B8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248025"/>
            <a:ext cx="30194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579"/>
                </a:solidFill>
                <a:latin typeface="Arial"/>
                <a:ea typeface="Arial"/>
                <a:cs typeface="Arial"/>
              </a:rPr>
              <a:t>Set a real intervention and error-cost definition; review privacy, affected customers and human-override paths.</a:t>
            </a:r>
          </a:p>
        </p:txBody>
      </p:sp>
      <p:sp>
        <p:nvSpPr>
          <p:cNvPr id="22" name="card">
            <a:extLst xmlns:a="http://schemas.openxmlformats.org/drawingml/2006/main">
              <a:ext uri="{FF2B5EF4-FFF2-40B4-BE49-F238E27FC236}">
                <a16:creationId xmlns:a16="http://schemas.microsoft.com/office/drawing/2014/main" id="{4FBCB499-DE95-4380-9DFD-461A2149B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29150"/>
            <a:ext cx="10858500" cy="1228725"/>
          </a:xfrm>
          <a:prstGeom xmlns:a="http://schemas.openxmlformats.org/drawingml/2006/main" prst="roundRect">
            <a:avLst>
              <a:gd name="adj" fmla="val 6202"/>
            </a:avLst>
          </a:prstGeom>
          <a:solidFill xmlns:a="http://schemas.openxmlformats.org/drawingml/2006/main">
            <a:srgbClr val="0B1C2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text">
            <a:extLst xmlns:a="http://schemas.openxmlformats.org/drawingml/2006/main">
              <a:ext uri="{FF2B5EF4-FFF2-40B4-BE49-F238E27FC236}">
                <a16:creationId xmlns:a16="http://schemas.microsoft.com/office/drawing/2014/main" id="{A328F4F6-E770-433B-B9CF-9CE86268C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829175"/>
            <a:ext cx="101917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The strongest result is the trade-off itself.</a:t>
            </a:r>
          </a:p>
        </p:txBody>
      </p:sp>
      <p:sp>
        <p:nvSpPr>
          <p:cNvPr id="24" name="text">
            <a:extLst xmlns:a="http://schemas.openxmlformats.org/drawingml/2006/main">
              <a:ext uri="{FF2B5EF4-FFF2-40B4-BE49-F238E27FC236}">
                <a16:creationId xmlns:a16="http://schemas.microsoft.com/office/drawing/2014/main" id="{5F016344-EF50-4118-A6A7-0964BD643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267325"/>
            <a:ext cx="1000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D0DCE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D0DCE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D0DCE7"/>
                </a:solidFill>
                <a:latin typeface="Arial"/>
                <a:ea typeface="Arial"/>
                <a:cs typeface="Arial"/>
              </a:rPr>
              <a:t>A fairness constraint can redistribute model decisions. It cannot decide which outcomes matter, make the data representative, or establish that a system is safe to deploy.</a:t>
            </a:r>
          </a:p>
        </p:txBody>
      </p:sp>
      <p:sp>
        <p:nvSpPr>
          <p:cNvPr id="25" name="text">
            <a:extLst xmlns:a="http://schemas.openxmlformats.org/drawingml/2006/main">
              <a:ext uri="{FF2B5EF4-FFF2-40B4-BE49-F238E27FC236}">
                <a16:creationId xmlns:a16="http://schemas.microsoft.com/office/drawing/2014/main" id="{B5489C78-7B81-4D0B-A714-3BA453CFB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24550"/>
            <a:ext cx="9525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26579"/>
                </a:solidFill>
                <a:latin typeface="Arial"/>
                <a:ea typeface="Arial"/>
                <a:cs typeface="Arial"/>
              </a:rPr>
              <a:t>Project code, model card, metrics and demo guide are included with the deck.</a:t>
            </a:r>
          </a:p>
        </p:txBody>
      </p:sp>
    </p:spTree>
    <p:extLst>
      <p:ext uri="{BB962C8B-B14F-4D97-AF65-F5344CB8AC3E}">
        <p14:creationId xmlns:p14="http://schemas.microsoft.com/office/powerpoint/2010/main" val="97554005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2026-10-15T17:58:35.9100000Z</dcterms:created>
  <dcterms:modified xsi:type="dcterms:W3CDTF">2026-10-15T17:58:35.9100000Z</dcterms:modified>
</coreProperties>
</file>