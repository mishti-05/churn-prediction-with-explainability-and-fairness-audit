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f0ac9f44a42f2" /><Relationship Type="http://schemas.openxmlformats.org/officeDocument/2006/relationships/extended-properties" Target="/docProps/app.xml" Id="Rb8f06ed0a47746ea" /><Relationship Type="http://schemas.openxmlformats.org/officeDocument/2006/relationships/officeDocument" Target="/ppt/presentation.xml" Id="Rb64fedd903e2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f1a377d4e4ff9"/>
  </p:sldMasterIdLst>
  <p:notesMasterIdLst>
    <p:notesMasterId xmlns:r="http://schemas.openxmlformats.org/officeDocument/2006/relationships" r:id="R74f92de191994862"/>
  </p:notesMasterIdLst>
  <p:sldIdLst>
    <p:sldId xmlns:r="http://schemas.openxmlformats.org/officeDocument/2006/relationships" id="256" r:id="Rd8f97e302a7a4e79"/>
    <p:sldId xmlns:r="http://schemas.openxmlformats.org/officeDocument/2006/relationships" id="257" r:id="Rb0429c94d783473f"/>
    <p:sldId xmlns:r="http://schemas.openxmlformats.org/officeDocument/2006/relationships" id="258" r:id="R683bfbf823f74a72"/>
    <p:sldId xmlns:r="http://schemas.openxmlformats.org/officeDocument/2006/relationships" id="259" r:id="Red4e88127e59455f"/>
    <p:sldId xmlns:r="http://schemas.openxmlformats.org/officeDocument/2006/relationships" id="260" r:id="Re5f399d1144a42e8"/>
    <p:sldId xmlns:r="http://schemas.openxmlformats.org/officeDocument/2006/relationships" id="261" r:id="R35f76d6277e24e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51ab336d34c9f" /><Relationship Type="http://schemas.openxmlformats.org/officeDocument/2006/relationships/slideMaster" Target="/ppt/slideMasters/slideMaster1.xml" Id="R884f1a377d4e4ff9" /><Relationship Type="http://schemas.openxmlformats.org/officeDocument/2006/relationships/notesMaster" Target="/ppt/notesMasters/notesMaster1.xml" Id="R74f92de191994862" /><Relationship Type="http://schemas.openxmlformats.org/officeDocument/2006/relationships/presProps" Target="/ppt/presProps.xml" Id="Rf790e2ad41a74584" /><Relationship Type="http://schemas.openxmlformats.org/officeDocument/2006/relationships/tableStyles" Target="/ppt/tableStyles.xml" Id="Rfc0d70022b5d419e" /><Relationship Type="http://schemas.openxmlformats.org/officeDocument/2006/relationships/slide" Target="/ppt/slides/slide1.xml" Id="Rd8f97e302a7a4e79" /><Relationship Type="http://schemas.openxmlformats.org/officeDocument/2006/relationships/slide" Target="/ppt/slides/slide2.xml" Id="Rb0429c94d783473f" /><Relationship Type="http://schemas.openxmlformats.org/officeDocument/2006/relationships/slide" Target="/ppt/slides/slide3.xml" Id="R683bfbf823f74a72" /><Relationship Type="http://schemas.openxmlformats.org/officeDocument/2006/relationships/slide" Target="/ppt/slides/slide4.xml" Id="Red4e88127e59455f" /><Relationship Type="http://schemas.openxmlformats.org/officeDocument/2006/relationships/slide" Target="/ppt/slides/slide5.xml" Id="Re5f399d1144a42e8" /><Relationship Type="http://schemas.openxmlformats.org/officeDocument/2006/relationships/slide" Target="/ppt/slides/slide6.xml" Id="R35f76d6277e24e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c172a72fc5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cdc9d665940f7" /><Relationship Type="http://schemas.openxmlformats.org/officeDocument/2006/relationships/notesMaster" Target="/ppt/notesMasters/notesMaster1.xml" Id="R39665359faff41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f0fc736d484409" /><Relationship Type="http://schemas.openxmlformats.org/officeDocument/2006/relationships/notesMaster" Target="/ppt/notesMasters/notesMaster1.xml" Id="R6ef98961168b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a44cd27878468d" /><Relationship Type="http://schemas.openxmlformats.org/officeDocument/2006/relationships/notesMaster" Target="/ppt/notesMasters/notesMaster1.xml" Id="R19fe49124a054a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ad5e7b5c2d44bc" /><Relationship Type="http://schemas.openxmlformats.org/officeDocument/2006/relationships/notesMaster" Target="/ppt/notesMasters/notesMaster1.xml" Id="R3d83bf3f8cda43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3a953dbfd4b41" /><Relationship Type="http://schemas.openxmlformats.org/officeDocument/2006/relationships/notesMaster" Target="/ppt/notesMasters/notesMaster1.xml" Id="R2118d7c6f14846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44c7867114ee2" /><Relationship Type="http://schemas.openxmlformats.org/officeDocument/2006/relationships/notesMaster" Target="/ppt/notesMasters/notesMaster1.xml" Id="R795669d826d242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WSDM - KKBox Churn Prediction Challenge. Competition page: https://www.kaggle.com/competitions/kkbox-churn-prediction-challenge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February and March cohort construction follows the KKBox challenge labels and point-in-time feature snapshots. Source: https://www.kaggle.com/competitions/kkbox-churn-prediction-challenge . The sample is 150,000 per cohort; this is not the full competition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from artifacts/kkbox-temporal/model_metrics.json. Accuracy is dominated by the 91% non-churn class, so ROC AUC and average precision provide useful complementary views. Calibration slightly worsened Brier score (0.05625 to 0.05781) and log loss (0.2010 to 0.2121) against raw XGBoost.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and numeric importance from artifacts/kkbox-temporal/shap_summary.png and shap_feature_importance.csv. These are mean absolute SHAP values for XGBoost raw margin (log-odds). They show which features move the fitted model output, not what causes churn. Feature effects can be correlated and are not interventions.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Fairness metrics from artifacts/kkbox-temporal/fairness_metrics.json. Difference is max minus min across gender groups. Mitigation was fitted on a separate policy-validation split and evaluated on the March holdout. Equal selection rates are only one fairness criterion; the substantial TPR and accuracy gaps remain. “Missing” is a large group, not a negligible subgroup. This is not a fairness certification or legal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next work: incorporate the large listening logs if legally/operationally feasible; improve missingness analysis and data provenance; run multiple later cohort holdouts and confidence intervals; choose criteria with stakeholders and explicit error costs; evaluate calibration by group and operational utility; document model governance. The current challenge data and sampled snapshots are not evidence of performance on an organization’s customers.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ea200059f4b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0bd2c9c9e48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bb3ab746447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66dd08b0844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1b23547914f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e14be74f3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9F9328-6880-499A-957F-0A6F536D7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75C5F1-8A13-4A00-9FB4-6F7BCB44E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FA0F7F-417F-4497-9E40-E9977E772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53F08B-A30F-4A37-9AB5-6E3C9494C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CD4E1F-4420-4411-80FF-4E241072A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EE4954-7A90-4947-A96D-D43073C2C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726DF3-81F0-42CD-99D0-3EDF3BD09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E61D33-AD35-4B7D-B57A-77598F38AA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1EED16-661C-4243-B74E-C9F425BCC7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A8F23F-FE09-45AB-859E-977E1A734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0eef32b3b4431" /><Relationship Type="http://schemas.openxmlformats.org/officeDocument/2006/relationships/slideLayout" Target="/ppt/slideLayouts/slideLayout1.xml" Id="Rc6a22a43a144424a" /><Relationship Type="http://schemas.openxmlformats.org/officeDocument/2006/relationships/slideLayout" Target="/ppt/slideLayouts/slideLayout2.xml" Id="R23a8c622f6284312" /><Relationship Type="http://schemas.openxmlformats.org/officeDocument/2006/relationships/slideLayout" Target="/ppt/slideLayouts/slideLayout3.xml" Id="R070b70fdda3e4aa5" /><Relationship Type="http://schemas.openxmlformats.org/officeDocument/2006/relationships/slideLayout" Target="/ppt/slideLayouts/slideLayout4.xml" Id="R116327aaa83840ff" /><Relationship Type="http://schemas.openxmlformats.org/officeDocument/2006/relationships/slideLayout" Target="/ppt/slideLayouts/slideLayout5.xml" Id="Rda0ca0c09d214a90" /><Relationship Type="http://schemas.openxmlformats.org/officeDocument/2006/relationships/slideLayout" Target="/ppt/slideLayouts/slideLayout6.xml" Id="R5cfc7971689446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22a43a144424a"/>
    <p:sldLayoutId xmlns:r="http://schemas.openxmlformats.org/officeDocument/2006/relationships" id="2147483650" r:id="R23a8c622f6284312"/>
    <p:sldLayoutId xmlns:r="http://schemas.openxmlformats.org/officeDocument/2006/relationships" id="2147483651" r:id="R070b70fdda3e4aa5"/>
    <p:sldLayoutId xmlns:r="http://schemas.openxmlformats.org/officeDocument/2006/relationships" id="2147483652" r:id="R116327aaa83840ff"/>
    <p:sldLayoutId xmlns:r="http://schemas.openxmlformats.org/officeDocument/2006/relationships" id="2147483653" r:id="Rda0ca0c09d214a90"/>
    <p:sldLayoutId xmlns:r="http://schemas.openxmlformats.org/officeDocument/2006/relationships" id="2147483654" r:id="R5cfc7971689446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2396bcc4c407b" /><Relationship Type="http://schemas.openxmlformats.org/officeDocument/2006/relationships/notesSlide" Target="/ppt/notesSlides/notesSlide1.xml" Id="R4b5b2cdc26ba44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22049c11e450e" /><Relationship Type="http://schemas.openxmlformats.org/officeDocument/2006/relationships/notesSlide" Target="/ppt/notesSlides/notesSlide2.xml" Id="R65dcf8321088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26ec6f1b543a3" /><Relationship Type="http://schemas.openxmlformats.org/officeDocument/2006/relationships/notesSlide" Target="/ppt/notesSlides/notesSlide3.xml" Id="Rb7416aacf22c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0c505c34d4b65" /><Relationship Type="http://schemas.openxmlformats.org/officeDocument/2006/relationships/image" Target="/ppt/media/image.png" Id="R9692075cb5d146f2" /><Relationship Type="http://schemas.openxmlformats.org/officeDocument/2006/relationships/notesSlide" Target="/ppt/notesSlides/notesSlide4.xml" Id="Rd82668d984f0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11cc1f86f4cda" /><Relationship Type="http://schemas.openxmlformats.org/officeDocument/2006/relationships/notesSlide" Target="/ppt/notesSlides/notesSlide5.xml" Id="R53b4620870664b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888cb76bd4e19" /><Relationship Type="http://schemas.openxmlformats.org/officeDocument/2006/relationships/notesSlide" Target="/ppt/notesSlides/notesSlide6.xml" Id="Rd6cea9c8fa47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082C7F1C-3C2B-46E6-B7DC-644BB47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">
            <a:extLst xmlns:a="http://schemas.openxmlformats.org/drawingml/2006/main">
              <a:ext uri="{FF2B5EF4-FFF2-40B4-BE49-F238E27FC236}">
                <a16:creationId xmlns:a16="http://schemas.microsoft.com/office/drawing/2014/main" id="{E9715F7C-56D3-4E63-946E-6320F71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668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">
            <a:extLst xmlns:a="http://schemas.openxmlformats.org/drawingml/2006/main">
              <a:ext uri="{FF2B5EF4-FFF2-40B4-BE49-F238E27FC236}">
                <a16:creationId xmlns:a16="http://schemas.microsoft.com/office/drawing/2014/main" id="{80024674-5647-4A78-B9CF-68A258BE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BD374BEB-F331-4728-99E1-F6A8036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C297CC8D-C3A1-4ED3-85EE-7279F3ED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891F227A-B1B3-4082-8D5F-72CBFB0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340C7C1A-2D71-4D79-8840-84A48D63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29DCC5C8-EA1E-4CE9-99CD-AF7D7E3C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102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6D6F4F94-4B2D-4BBD-A6A5-CEE27A5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572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3D26D06E-3560-4C08-9CFC-AF7F800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572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F7076FD5-384E-4622-B02B-DD32A8C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572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29006AE7-477B-4059-9BCC-FC4E309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572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4197A308-15FE-448B-A578-A096DDBF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572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98684667-769F-4676-B2C2-03870CD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B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8C7BA423-CB97-4828-B96A-CA2B0AF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B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">
            <a:extLst xmlns:a="http://schemas.openxmlformats.org/drawingml/2006/main">
              <a:ext uri="{FF2B5EF4-FFF2-40B4-BE49-F238E27FC236}">
                <a16:creationId xmlns:a16="http://schemas.microsoft.com/office/drawing/2014/main" id="{2CCB724C-DFA4-4468-B305-09D8AC85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B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">
            <a:extLst xmlns:a="http://schemas.openxmlformats.org/drawingml/2006/main">
              <a:ext uri="{FF2B5EF4-FFF2-40B4-BE49-F238E27FC236}">
                <a16:creationId xmlns:a16="http://schemas.microsoft.com/office/drawing/2014/main" id="{35AB4623-E260-400E-90B0-9C0CBC54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B7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">
            <a:extLst xmlns:a="http://schemas.openxmlformats.org/drawingml/2006/main">
              <a:ext uri="{FF2B5EF4-FFF2-40B4-BE49-F238E27FC236}">
                <a16:creationId xmlns:a16="http://schemas.microsoft.com/office/drawing/2014/main" id="{6F2FEFE9-B1BA-4745-A270-BBC77B3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9D369465-A180-4011-B518-41DA39F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D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5E1AF29-2192-45FA-9151-D48CDDFD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5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A7E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A7E2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E2D9"/>
                </a:solidFill>
                <a:latin typeface="Arial"/>
                <a:ea typeface="Arial"/>
                <a:cs typeface="Arial"/>
              </a:rPr>
              <a:t>APPLIED ML • MODEL RISK</a:t>
            </a:r>
          </a:p>
        </p:txBody>
      </p:sp>
      <p:sp>
        <p:nvSpPr>
          <p:cNvPr id="2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E224DC6-8548-4D1B-A856-57F7186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762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Churn prediction,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the trade-offs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the open.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CA37255-9DC6-47A9-9A2F-7884078C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8AD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AD8C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AD8CD"/>
                </a:solidFill>
                <a:latin typeface="Arial"/>
                <a:ea typeface="Arial"/>
                <a:cs typeface="Arial"/>
              </a:rPr>
              <a:t>XGBoost  /  SHAP  /  Fairlearn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24093F0-9414-4098-95D8-ED9B7B4B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CE7"/>
                </a:solidFill>
                <a:latin typeface="Arial"/>
                <a:ea typeface="Arial"/>
                <a:cs typeface="Arial"/>
              </a:rPr>
              <a:t>A time-aware evaluation on KKBox competition data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DDC2CFEB-7229-435D-825D-2B4D974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7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613F909-C958-472A-ABE0-30661FF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0DC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0D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0DCE7"/>
                </a:solidFill>
                <a:latin typeface="Arial"/>
                <a:ea typeface="Arial"/>
                <a:cs typeface="Arial"/>
              </a:rPr>
              <a:t>February → March 2017  •  300,000 sampled snapshots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64DC304-9B5F-423C-8FC0-24E5B6E0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197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1A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1A5B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5B7"/>
                </a:solidFill>
                <a:latin typeface="Arial"/>
                <a:ea typeface="Arial"/>
                <a:cs typeface="Arial"/>
              </a:rPr>
              <a:t>A research prototype, not a deployment recommendation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FF29934-066C-4CE8-99CE-D9E005D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91A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91A5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1A5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5352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36F4BFC2-47E1-4165-A761-FB621A9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 / STUDY DESIGN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007DC9C-2518-47BA-95B7-1B7067B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 temporal test makes the question harder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B6823D59-6713-4EB8-B00F-DA3A5DF9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E04482-DCDF-4020-8CBD-668F1F9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CHURN • EXPLAINABILITY • FAIRNESS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11600C-EDF1-4381-B946-F4AD3CC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42356F-4BC5-47CB-95A3-194681BB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Train on an earlier customer snapshot. Evaluate on a later one.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8DC52E15-23E3-401E-BB19-2839E03B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3387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074561F4-F7B3-46E5-8B71-6EA4AC8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33387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990AF166-06F2-498E-885B-5FD1B0C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A2D274-4C16-4154-9456-F727DE3E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FIT + POLICY VALIDATION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FE31714D-F6AC-430E-B8F3-60FB95C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0F7DDE-D625-408A-B9D2-7E4D8970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67B2"/>
                </a:solidFill>
                <a:latin typeface="Arial"/>
                <a:ea typeface="Arial"/>
                <a:cs typeface="Arial"/>
              </a:rPr>
              <a:t>OUT-OF-TIME TEST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581C72-6AA1-4B01-B150-C1F6514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February cohort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6D6D8F-B97E-4F1A-BC76-234766E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150k sampled labels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DC55B1C-EAD5-4EF6-8B4F-E378A2D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112.5k fit  ·  37.5k validation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748325-27C8-4316-9679-436AED0D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March cohort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0D84140-D20E-41B5-BFC2-ADBF334B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814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150k sampled labels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F69489-6BD3-4CA3-ABA4-B1A863B0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Latest feature cutoff: 28 Feb 2017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2766294F-1322-4A20-A1D4-20C55E4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71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7B91D6B0-84A9-4344-9BCB-BFFEC58C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91075"/>
            <a:ext cx="53721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">
            <a:extLst xmlns:a="http://schemas.openxmlformats.org/drawingml/2006/main">
              <a:ext uri="{FF2B5EF4-FFF2-40B4-BE49-F238E27FC236}">
                <a16:creationId xmlns:a16="http://schemas.microsoft.com/office/drawing/2014/main" id="{7943C841-2CCC-4B8A-BA8B-3BF6CAD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">
            <a:extLst xmlns:a="http://schemas.openxmlformats.org/drawingml/2006/main">
              <a:ext uri="{FF2B5EF4-FFF2-40B4-BE49-F238E27FC236}">
                <a16:creationId xmlns:a16="http://schemas.microsoft.com/office/drawing/2014/main" id="{940FFBEE-BEE5-4093-871E-B4C68CC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91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">
            <a:extLst xmlns:a="http://schemas.openxmlformats.org/drawingml/2006/main">
              <a:ext uri="{FF2B5EF4-FFF2-40B4-BE49-F238E27FC236}">
                <a16:creationId xmlns:a16="http://schemas.microsoft.com/office/drawing/2014/main" id="{D049216F-7CD0-4513-8492-05411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791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A3641FB-2D16-4027-A0F7-CCB103DF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31 Jan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90D6000-C3BA-4A51-AC4F-31DCE6A9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Train snapshot cutoff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E7B3442-9B3B-4BA8-A8C5-F1CA4D5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10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28 Feb</a:t>
            </a:r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318A5B0B-DA32-4068-861D-F5D8B841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868355A-DC93-4490-AB2C-4C6A662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72125"/>
            <a:ext cx="1049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Inputs: transaction summaries + member attributes  |  Listening logs omitted  |  Raw member IDs excluded</a:t>
            </a:r>
          </a:p>
        </p:txBody>
      </p:sp>
    </p:spTree>
    <p:extLst>
      <p:ext uri="{BB962C8B-B14F-4D97-AF65-F5344CB8AC3E}">
        <p14:creationId xmlns:p14="http://schemas.microsoft.com/office/powerpoint/2010/main" val="142868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F02C3371-BA76-4A14-AEEC-54E35DF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 / PERFORMANCE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7A3A729-C4E5-4090-82EA-DB25A67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model ranks risk well; the default threshold misses churners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5FEA009A-A610-4E4A-9F9F-E034A59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97BE90-1087-4DB0-BFEE-C01A3ADC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CHURN • EXPLAINABILITY • FAIRNESS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70279A-55C6-4D68-89E6-2C9D411C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B0D3B5-CD8A-4A37-AD48-FBCCC86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Out-of-time March holdout • 150,000 customers • churn prevalence 9.0%</a:t>
            </a:r>
          </a:p>
        </p:txBody>
      </p:sp>
      <p:sp>
        <p:nvSpPr>
          <p:cNvPr id="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430EA8C9-7FD8-47BC-84B3-F0D0E33E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3FB2D1F2-301C-4CD6-86CE-6454AA2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666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C8AF26-30A6-4E55-8738-0BC6CC0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867B2"/>
                </a:solidFill>
                <a:latin typeface="Arial"/>
                <a:ea typeface="Arial"/>
                <a:cs typeface="Arial"/>
              </a:rPr>
              <a:t>0.884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29048E-88FA-43B4-AFC5-7A3F3B6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ROC AUC • raw XGBoost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E6F5FC-E737-49B3-9823-45DC6EA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Logistic: 0.820  •  prior: 0.500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59D029A0-2159-4D3F-9EC5-E065A7EC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DCF839CF-DB83-4EE5-A7F9-91DA11B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666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F152E0-3F20-4C6B-AED0-F1B2533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0.570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FA2682-4CBA-47CB-AD99-D3B764BD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Average precision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88384C-6D5D-49C1-AD10-6EC4D2A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Logistic: 0.460  •  prior: 0.090</a:t>
            </a:r>
          </a:p>
        </p:txBody>
      </p:sp>
      <p:sp>
        <p:nvSpPr>
          <p:cNvPr id="1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B3EC5332-8974-4CA6-B8CE-EB9BAD5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EEC572B6-3F3D-484C-80E6-F77F59D6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666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E6847E2-862D-4182-A008-EF43C71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77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7783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77832"/>
                </a:solidFill>
                <a:latin typeface="Arial"/>
                <a:ea typeface="Arial"/>
                <a:cs typeface="Arial"/>
              </a:rPr>
              <a:t>0.927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1239431-A065-48A8-B636-D111593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812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Accuracy • calibrated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6C495E-56DB-46FE-9C13-891B43E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0512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Calibrated AUC: 0.883</a:t>
            </a:r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5AE8DA87-3A02-413E-8814-75AD4818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6819900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5791A6E-524A-4F81-8A3B-307ED5E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probability-quality check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06D5F8-6F43-4FC8-AAB3-0050B580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00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Brier score  ↓ better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E166C04-4F6D-4B13-A73B-771421E2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4238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Raw XGBoost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AC3F212E-E4FB-4E14-9C5B-0176AA7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4238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10EF997B-415D-45C6-8EF7-CE80D06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264914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8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80AD02-7E15-4989-98AD-264986B0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0.0563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9CD177A-FC58-48CF-BAF5-D1F894C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43475"/>
            <a:ext cx="4238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Sigmoid calibrated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F2AD6E67-207F-46B3-9841-F865262E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4238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9A256DAA-8E17-4171-B43D-4614AA78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272261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667FB6A-1081-4D6C-B6F9-207876C2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244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0.0578</a:t>
            </a:r>
          </a:p>
        </p:txBody>
      </p:sp>
      <p:sp>
        <p:nvSpPr>
          <p:cNvPr id="33" name="card">
            <a:extLst xmlns:a="http://schemas.openxmlformats.org/drawingml/2006/main">
              <a:ext uri="{FF2B5EF4-FFF2-40B4-BE49-F238E27FC236}">
                <a16:creationId xmlns:a16="http://schemas.microsoft.com/office/drawing/2014/main" id="{A7A5A427-8A0E-4B5E-9694-0AB1343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90925"/>
            <a:ext cx="3733800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8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D2A9307-17E0-425D-9A68-0E94922C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Target the highest-risk 10%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7BB982A-48AD-4AE4-9B3E-EEE37681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14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778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7783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77832"/>
                </a:solidFill>
                <a:latin typeface="Arial"/>
                <a:ea typeface="Arial"/>
                <a:cs typeface="Arial"/>
              </a:rPr>
              <a:t>+$44.6k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B1CC8BB-0AF5-4626-85C9-4C46831F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9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illustrative expected net value  •  +$100.1k vs random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F7C2003-1DED-467E-BFC6-3C17500B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9110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59.1% of observed churners captured in 15,000 contacts. Assumes 20% intervention success, $100 retained value and $5 outreach cost.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19E99F0-58AE-49DC-BF7D-E8E49C8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Scenario only—not causal savings. Calibration worsened Brier (0.0578 vs 0.0563) and log loss (0.212 vs 0.201).</a:t>
            </a:r>
          </a:p>
        </p:txBody>
      </p:sp>
    </p:spTree>
    <p:extLst>
      <p:ext uri="{BB962C8B-B14F-4D97-AF65-F5344CB8AC3E}">
        <p14:creationId xmlns:p14="http://schemas.microsoft.com/office/powerpoint/2010/main" val="429218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CCC40BB3-B465-4A17-B370-3E5B711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 / EXPLAINABILITY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C577601-AFB3-4C25-827C-AEAC127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Explanations point to payment behavior—not a causal story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B4F7511E-C9C7-4EA2-B6D9-5AAD700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0B66CF-C2BD-475C-984D-6C6F32B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CHURN • EXPLAINABILITY • FAIRNESS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AFEDED-A7BB-4B24-BFAE-A1DA072B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074831-2FD9-40EF-9D35-20B4703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Global SHAP importance • mean absolute contribution to model raw margin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48671-7E04-49DD-BFDB-AC73FF247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2075cb5d146f2"/>
          <a:stretch xmlns:a="http://schemas.openxmlformats.org/drawingml/2006/main"/>
        </p:blipFill>
        <p:spPr>
          <a:xfrm xmlns:a="http://schemas.openxmlformats.org/drawingml/2006/main">
            <a:off x="1925733" y="1752600"/>
            <a:ext cx="4206684" cy="3943350"/>
          </a:xfrm>
          <a:prstGeom xmlns:a="http://schemas.openxmlformats.org/drawingml/2006/main" prst="rect">
            <a:avLst/>
          </a:prstGeom>
        </p:spPr>
      </p:pic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5E8DD06D-746A-484B-9185-6AB2748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37338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A5C98F-A97F-4559-8F99-09FBF2D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Leading signals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37AABE-DC45-496E-B03B-E5FEC21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C6D0AC-5DB1-4698-94FE-1E7C163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Auto-renew status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FB62C1-EC0D-4BDD-9A8C-F0F6DBF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0.485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8016C294-A260-4264-A433-2411228D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152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A94D27-07A1-4973-AD6B-B6D874B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032E70-EA6B-47C7-BCB1-7839726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95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Plan list price • 90d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277BA0-47E6-416E-83AC-66B2330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956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0.305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6BA71A23-405E-46A8-AAA2-64AEFDD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152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C91A7D1-F490-4A09-B110-788634D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8D9B17-C1C2-4028-904B-CF8FB95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19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Cancellation flag • 90d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580694-89A2-4354-A918-F7BD1DE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0.274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B28E5E62-FB5D-48B8-8DF6-06A2D06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52875"/>
            <a:ext cx="3152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3322A1-9A8F-4352-82C7-8D671C0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E8D7667-B78F-4B58-81EA-327E810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43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Transaction count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29B894D-D67B-4F26-B086-EF6BD94A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433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0.271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1C7C2679-4683-4C1D-991E-94D278C0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152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0458D48-3EBA-4015-925A-AEE343F0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113CF4-BBE8-42D5-9263-74B9979E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Days since last txn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295DC24-BE1F-4A23-9075-2A5AB0AF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0.221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AEFCD837-6CF0-49AD-807B-7670A3A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7338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8E80830-EC58-4B75-BC5B-69796FF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959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SHAP describes model behavior,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549933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78EB4D42-24EF-42FA-9B27-52B8FA0D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04 / FAIRNESS TRADE-OFF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82A9077-75D6-4F0A-AAE5-A4A3E4D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Parity improved—while equal opportunity got worse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BD45F38E-799A-4D3F-935A-46B8609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7E37CD-87F0-4E95-9FD3-8A0315B8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CHURN • EXPLAINABILITY • FAIRNESS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1EC1F9-E655-4E9F-A472-77E8E68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E8074C-0F67-4B47-A849-F72C8DB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Gender groups • held-out March cohort • Fairlearn ThresholdOptimizer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D11060A-7615-4D35-BB35-F49C9B5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145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MAX–MIN GROUP GAP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551DCF-B18B-4F98-B37E-DD8743D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Global threshold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0BD1F5-1461-46E0-91CE-1B85B053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669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Selection rate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6734DA73-3544-4576-8364-A53C4B7E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14600"/>
            <a:ext cx="2190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EE5B39DD-5437-4953-B64E-20E16589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14600"/>
            <a:ext cx="331387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8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1E9B0F-8C23-4ED7-B55F-680CA42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479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2.72 pp [2.44–2.99]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AACDAE3-606A-401D-A92C-D2F03D5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71775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True positive rate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1996E924-FD70-4F89-9851-2B97D10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2190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9CF4FA66-BD4D-40D0-9D75-C5D2236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328588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867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DEACA6-7287-47A7-9816-FBD356B3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52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2.70 pp [1.34–4.55]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D1DFA5-5351-4E93-AECA-7F39C17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Parity postprocessor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3E3F7A-C8C8-4D97-99F0-86E54C4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Selection rate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AFB6FB91-3DFC-48BF-ACC2-901997C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19525"/>
            <a:ext cx="2190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B1FC7B76-5ADE-4C75-8174-51CFB658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19525"/>
            <a:ext cx="3237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B0D1A5E-05D8-4AB8-B461-72A7AA9F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52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0.03 pp [0.03–0.32]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09CFCA-8BB9-4E94-9557-C9FB0613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7670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True positive rate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0D004BDE-6076-4365-B54A-ED8EBE1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324350"/>
            <a:ext cx="2190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A9D0CA1C-860F-43EB-97FC-58E9436B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324350"/>
            <a:ext cx="2053049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979FEA8-1C00-469F-AB7A-FC05C940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57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16.87 pp [15.42–18.38]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264F761E-855E-4D29-92A8-87A4F78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67151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F14718-70C2-4228-943E-405BF17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054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What moved with the intervention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6C7D7AD-9FF0-4341-BA74-D6DD97EC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29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Accuracy  92.7% → 92.3%     •     Accuracy gap  5.8 → 6.8 pp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2EE0DD39-6650-4EE1-B25F-CBA0B50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3733800" cy="41243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C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E254A2B-364C-41AB-B03C-28FF0BB1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145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audit context matters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32E659F-67DD-4FB2-ADB4-7EE38EC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4795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7E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A7E2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E2D9"/>
                </a:solidFill>
                <a:latin typeface="Arial"/>
                <a:ea typeface="Arial"/>
                <a:cs typeface="Arial"/>
              </a:rPr>
              <a:t>“Missing” gender is 89,857 of 150,000 customers.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0457198-85DB-43C1-B619-C0DE7B64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38525"/>
            <a:ext cx="3105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Fairlearn’s demographic parity criterion made positive prediction rates nearly equal. It did not equalize recall; the TPR gap grew sharply.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EE41A6F-9163-49D2-92B8-EF8C570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24400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0DCE7"/>
                </a:solidFill>
                <a:latin typeface="Arial"/>
                <a:ea typeface="Arial"/>
                <a:cs typeface="Arial"/>
              </a:rPr>
              <a:t>The postprocessor uses group-specific randomized thresholds and needs the sensitive feature at inference.</a:t>
            </a:r>
          </a:p>
        </p:txBody>
      </p:sp>
    </p:spTree>
    <p:extLst>
      <p:ext uri="{BB962C8B-B14F-4D97-AF65-F5344CB8AC3E}">
        <p14:creationId xmlns:p14="http://schemas.microsoft.com/office/powerpoint/2010/main" val="1996067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BAA19148-90A7-4445-BB52-4BCAC6FE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05 / WHAT NEXT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786660B-4B46-4453-9F23-098B5038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 useful prototype is honest about what remains unknown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90C0A2CD-8E28-4123-B418-D54E0F2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FA2D30-6A7F-4643-955C-8DB0435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CHURN • EXPLAINABILITY • FAIRNESS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D80091-6EF4-41BE-AF38-12EB8B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B5C6CE-0DD2-4514-A628-6C4365EE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Good evidence for a demo. More evidence needed before any operational use.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DF9EBF2C-E979-43C2-869C-F105505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67100" cy="2200275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8100F794-9A39-451B-A26D-A3D756E7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E46C30-BA6A-4D1B-BF77-82B9045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  •  DATA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B4B4F7-16A2-4303-9277-370A3E2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Broaden the signal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2C5C54-B9BB-4913-93FF-490D20ED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019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Add listening-history features; investigate why gender is missing; validate full-population and later-month cohorts.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7ED679DB-33B7-40FB-82CF-782E2EB7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467100" cy="2200275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BD46150-F4D6-41EE-A785-D0F6D815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E6183F-67EF-475F-A916-52686FFB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2867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67B2"/>
                </a:solidFill>
                <a:latin typeface="Arial"/>
                <a:ea typeface="Arial"/>
                <a:cs typeface="Arial"/>
              </a:rPr>
              <a:t>02  •  EVALUATION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375EBE-70D1-46C9-86B7-83F5366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527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Stress-test the policy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A8F12B2-ABC7-442B-A359-45C25EDE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8025"/>
            <a:ext cx="3019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Repeat out-of-time tests; examine subgroup uncertainty; compare parity, equal opportunity and cost-based objectives.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5A58D3F4-BD24-4D0D-89C9-0F42A00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67100" cy="2200275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5754C09E-65FE-4E64-9EAF-7B75492D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95525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A335D8-6D24-4B31-AC30-AD816DF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  •  GOVERNANCE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4B49954-F66F-475B-8603-24344D5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Make it accountable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E3A9C74-9DA4-4D1E-A5C7-26827B5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48025"/>
            <a:ext cx="3019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Set a real intervention and error-cost definition; review privacy, affected customers and human-override paths.</a:t>
            </a:r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8D0595B5-2693-4900-AFBC-0ECA6718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858500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0B1C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B6EEFE-8725-4527-B301-CF26966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29175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strongest result is the trade-off itself.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318701-CFAD-4327-9A91-F4C1EF6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0DC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0DCE7"/>
                </a:solidFill>
                <a:latin typeface="Arial"/>
                <a:ea typeface="Arial"/>
                <a:cs typeface="Arial"/>
              </a:rPr>
              <a:t>A fairness constraint can redistribute model decisions. It cannot decide which outcomes matter, make the data representative, or establish that a system is safe to deploy.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907DEC5-204A-49D2-A676-4F68146A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Project code, model card, metrics and demo guide are included with the deck.</a:t>
            </a:r>
          </a:p>
        </p:txBody>
      </p:sp>
    </p:spTree>
    <p:extLst>
      <p:ext uri="{BB962C8B-B14F-4D97-AF65-F5344CB8AC3E}">
        <p14:creationId xmlns:p14="http://schemas.microsoft.com/office/powerpoint/2010/main" val="1366973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2026-10-15T19:04:42.0530000Z</dcterms:created>
  <dcterms:modified xsi:type="dcterms:W3CDTF">2026-10-15T19:04:42.0530000Z</dcterms:modified>
</coreProperties>
</file>